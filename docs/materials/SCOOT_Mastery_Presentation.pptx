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6.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25262a3-6546-4b8f-d83e-8b7bc1fbb80b}">
          <p14:sldIdLst>
            <p14:sldId id="256"/>
            <p14:sldId id="257"/>
            <p14:sldId id="258"/>
            <p14:sldId id="259"/>
            <p14:sldId id="260"/>
          </p14:sldIdLst>
        </p14:section>
        <p14:section name="1. Fair testing" id="{ad5334ed-d716-6557-e8a9-ea3a2251bec7}">
          <p14:sldIdLst>
            <p14:sldId id="261"/>
            <p14:sldId id="262"/>
            <p14:sldId id="263"/>
          </p14:sldIdLst>
        </p14:section>
        <p14:section name="2. CV instead of loops" id="{5b865e91-b878-17fd-61cc-71310f90e43a}">
          <p14:sldIdLst>
            <p14:sldId id="264"/>
            <p14:sldId id="265"/>
            <p14:sldId id="266"/>
          </p14:sldIdLst>
        </p14:section>
        <p14:section name="3. Learning splits (RL)" id="{2300d2ef-4cec-0f4e-dcda-5e805407938f}">
          <p14:sldIdLst>
            <p14:sldId id="267"/>
            <p14:sldId id="268"/>
            <p14:sldId id="269"/>
          </p14:sldIdLst>
        </p14:section>
        <p14:section name="4. Max-pressure" id="{3ddf07a9-2e6a-254b-8b97-1e9380282c55}">
          <p14:sldIdLst>
            <p14:sldId id="270"/>
            <p14:sldId id="271"/>
            <p14:sldId id="272"/>
          </p14:sldIdLst>
        </p14:section>
        <p14:section name="5. Detector faults" id="{3aa7bdfe-8cb6-3363-c11f-cdcfcd2eca17}">
          <p14:sldIdLst>
            <p14:sldId id="273"/>
            <p14:sldId id="274"/>
            <p14:sldId id="275"/>
          </p14:sldIdLst>
        </p14:section>
        <p14:section name="6. Stop weight K" id="{77682713-bf3f-ff11-1b39-d004b96fea5b}">
          <p14:sldIdLst>
            <p14:sldId id="276"/>
            <p14:sldId id="277"/>
            <p14:sldId id="278"/>
          </p14:sldIdLst>
        </p14:section>
        <p14:section name="7. GLOSA prediction" id="{1fefec17-3d0c-a973-2fa5-557d2652b22e}">
          <p14:sldIdLst>
            <p14:sldId id="279"/>
            <p14:sldId id="280"/>
            <p14:sldId id="281"/>
          </p14:sldIdLst>
        </p14:section>
        <p14:section name="Wrap-up" id="{514a1f03-c403-7e16-8dfa-b4a351768ec6}">
          <p14:sldIdLst>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SCOOT's delay on CV data alone, by penetration.</a:t>
            </a:r>
          </a:p>
        </c:rich>
      </c:tx>
      <c:layout/>
      <c:overlay val="0"/>
    </c:title>
    <c:autoTitleDeleted val="0"/>
    <c:plotArea>
      <c:layout/>
      <c:lineChart>
        <c:varyColors val="0"/>
        <c:ser>
          <c:idx val="0"/>
          <c:order val="0"/>
          <c:tx>
            <c:strRef>
              <c:f>Sheet1!$B$1</c:f>
              <c:strCache>
                <c:ptCount val="1"/>
                <c:pt idx="0">
                  <c:v>SCOOT on CV data</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Sheet1!$A$2:$A$6</c:f>
              <c:multiLvlStrCache>
                <c:ptCount val="5"/>
                <c:lvl>
                  <c:pt idx="0">
                    <c:v>5</c:v>
                  </c:pt>
                  <c:pt idx="1">
                    <c:v>10</c:v>
                  </c:pt>
                  <c:pt idx="2">
                    <c:v>25</c:v>
                  </c:pt>
                  <c:pt idx="3">
                    <c:v>50</c:v>
                  </c:pt>
                  <c:pt idx="4">
                    <c:v>100</c:v>
                  </c:pt>
                </c:lvl>
              </c:multiLvlStrCache>
            </c:multiLvlStrRef>
          </c:cat>
          <c:val>
            <c:numRef>
              <c:f>Sheet1!$B$2:$B$6</c:f>
              <c:numCache>
                <c:formatCode>General</c:formatCode>
                <c:ptCount val="5"/>
                <c:pt idx="0">
                  <c:v>43.68</c:v>
                </c:pt>
                <c:pt idx="1">
                  <c:v>37.58</c:v>
                </c:pt>
                <c:pt idx="2">
                  <c:v>33.86</c:v>
                </c:pt>
                <c:pt idx="3">
                  <c:v>27.51</c:v>
                </c:pt>
                <c:pt idx="4">
                  <c:v>26.28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CV penetration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1"/>
      </c:catAx>
      <c:valAx>
        <c:axId val="2094734552"/>
        <c:scaling>
          <c:orientation val="minMax"/>
          <c:max val="50"/>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Delay on three unseen seeds: SCOOT and the RL agent.</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0B3954"/>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0B3954"/>
              </a:solidFill>
              <a:effectLst/>
            </c:spPr>
          </c:dPt>
          <c:dPt>
            <c:idx val="1"/>
            <c:invertIfNegative val="0"/>
            <c:bubble3D val="0"/>
            <c:spPr>
              <a:solidFill>
                <a:srgbClr val="8F3520"/>
              </a:solidFill>
              <a:effectLst/>
            </c:spPr>
          </c:dPt>
          <c:dPt>
            <c:idx val="2"/>
            <c:invertIfNegative val="0"/>
            <c:bubble3D val="0"/>
            <c:spPr>
              <a:solidFill>
                <a:srgbClr val="0B3954"/>
              </a:solidFill>
              <a:effectLst/>
            </c:spPr>
          </c:dPt>
          <c:dPt>
            <c:idx val="3"/>
            <c:invertIfNegative val="0"/>
            <c:bubble3D val="0"/>
            <c:spPr>
              <a:solidFill>
                <a:srgbClr val="8F3520"/>
              </a:solidFill>
              <a:effectLst/>
            </c:spPr>
          </c:dPt>
          <c:dPt>
            <c:idx val="4"/>
            <c:invertIfNegative val="0"/>
            <c:bubble3D val="0"/>
            <c:spPr>
              <a:solidFill>
                <a:srgbClr val="0B3954"/>
              </a:solidFill>
              <a:effectLst/>
            </c:spPr>
          </c:dPt>
          <c:dPt>
            <c:idx val="5"/>
            <c:invertIfNegative val="0"/>
            <c:bubble3D val="0"/>
            <c:spPr>
              <a:solidFill>
                <a:srgbClr val="8F3520"/>
              </a:solidFill>
              <a:effectLst/>
            </c:spPr>
          </c:dPt>
          <c:cat>
            <c:multiLvlStrRef>
              <c:f>Sheet1!$A$2:$A$7</c:f>
              <c:multiLvlStrCache>
                <c:ptCount val="6"/>
                <c:lvl>
                  <c:pt idx="0">
                    <c:v>SCOOT seed 7</c:v>
                  </c:pt>
                  <c:pt idx="1">
                    <c:v>RL seed 7</c:v>
                  </c:pt>
                  <c:pt idx="2">
                    <c:v>SCOOT seed 8</c:v>
                  </c:pt>
                  <c:pt idx="3">
                    <c:v>RL seed 8</c:v>
                  </c:pt>
                  <c:pt idx="4">
                    <c:v>SCOOT seed 9</c:v>
                  </c:pt>
                  <c:pt idx="5">
                    <c:v>RL seed 9</c:v>
                  </c:pt>
                </c:lvl>
              </c:multiLvlStrCache>
            </c:multiLvlStrRef>
          </c:cat>
          <c:val>
            <c:numRef>
              <c:f>Sheet1!$B$2:$B$7</c:f>
              <c:numCache>
                <c:formatCode>General</c:formatCode>
                <c:ptCount val="6"/>
                <c:pt idx="0">
                  <c:v>33.14</c:v>
                </c:pt>
                <c:pt idx="1">
                  <c:v>72.4</c:v>
                </c:pt>
                <c:pt idx="2">
                  <c:v>38.22</c:v>
                </c:pt>
                <c:pt idx="3">
                  <c:v>60.77</c:v>
                </c:pt>
                <c:pt idx="4">
                  <c:v>42.1</c:v>
                </c:pt>
                <c:pt idx="5">
                  <c:v>69.89</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delay: SCOOT, max-pressure and exit-aware SCOOT.</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0B3954"/>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0B3954"/>
              </a:solidFill>
              <a:effectLst/>
            </c:spPr>
          </c:dPt>
          <c:dPt>
            <c:idx val="1"/>
            <c:invertIfNegative val="0"/>
            <c:bubble3D val="0"/>
            <c:spPr>
              <a:solidFill>
                <a:srgbClr val="8F3520"/>
              </a:solidFill>
              <a:effectLst/>
            </c:spPr>
          </c:dPt>
          <c:dPt>
            <c:idx val="2"/>
            <c:invertIfNegative val="0"/>
            <c:bubble3D val="0"/>
            <c:spPr>
              <a:solidFill>
                <a:srgbClr val="0B3954"/>
              </a:solidFill>
              <a:effectLst/>
            </c:spPr>
          </c:dPt>
          <c:dPt>
            <c:idx val="3"/>
            <c:invertIfNegative val="0"/>
            <c:bubble3D val="0"/>
            <c:spPr>
              <a:solidFill>
                <a:srgbClr val="04505A"/>
              </a:solidFill>
              <a:effectLst/>
            </c:spPr>
          </c:dPt>
          <c:dPt>
            <c:idx val="4"/>
            <c:invertIfNegative val="0"/>
            <c:bubble3D val="0"/>
            <c:spPr>
              <a:solidFill>
                <a:srgbClr val="8F3520"/>
              </a:solidFill>
              <a:effectLst/>
            </c:spPr>
          </c:dPt>
          <c:cat>
            <c:multiLvlStrRef>
              <c:f>Sheet1!$A$2:$A$6</c:f>
              <c:multiLvlStrCache>
                <c:ptCount val="5"/>
                <c:lvl>
                  <c:pt idx="0">
                    <c:v>SCOOT 300 m</c:v>
                  </c:pt>
                  <c:pt idx="1">
                    <c:v>Max-pressure 300 m</c:v>
                  </c:pt>
                  <c:pt idx="2">
                    <c:v>SCOOT 120 m</c:v>
                  </c:pt>
                  <c:pt idx="3">
                    <c:v>Exit-aware 120 m</c:v>
                  </c:pt>
                  <c:pt idx="4">
                    <c:v>Max-pressure 120 m</c:v>
                  </c:pt>
                </c:lvl>
              </c:multiLvlStrCache>
            </c:multiLvlStrRef>
          </c:cat>
          <c:val>
            <c:numRef>
              <c:f>Sheet1!$B$2:$B$6</c:f>
              <c:numCache>
                <c:formatCode>General</c:formatCode>
                <c:ptCount val="5"/>
                <c:pt idx="0">
                  <c:v>30.44</c:v>
                </c:pt>
                <c:pt idx="1">
                  <c:v>68.32</c:v>
                </c:pt>
                <c:pt idx="2">
                  <c:v>28.69</c:v>
                </c:pt>
                <c:pt idx="3">
                  <c:v>29.74</c:v>
                </c:pt>
                <c:pt idx="4">
                  <c:v>224.41</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Delay with 13 failed detectors.</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0B3954"/>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0B3954"/>
              </a:solidFill>
              <a:effectLst/>
            </c:spPr>
          </c:dPt>
          <c:dPt>
            <c:idx val="1"/>
            <c:invertIfNegative val="0"/>
            <c:bubble3D val="0"/>
            <c:spPr>
              <a:solidFill>
                <a:srgbClr val="8F3520"/>
              </a:solidFill>
              <a:effectLst/>
            </c:spPr>
          </c:dPt>
          <c:dPt>
            <c:idx val="2"/>
            <c:invertIfNegative val="0"/>
            <c:bubble3D val="0"/>
            <c:spPr>
              <a:solidFill>
                <a:srgbClr val="04505A"/>
              </a:solidFill>
              <a:effectLst/>
            </c:spPr>
          </c:dPt>
          <c:cat>
            <c:multiLvlStrRef>
              <c:f>Sheet1!$A$2:$A$4</c:f>
              <c:multiLvlStrCache>
                <c:ptCount val="3"/>
                <c:lvl>
                  <c:pt idx="0">
                    <c:v>Healthy detectors</c:v>
                  </c:pt>
                  <c:pt idx="1">
                    <c:v>Faults, raw data</c:v>
                  </c:pt>
                  <c:pt idx="2">
                    <c:v>Faults, history substituted</c:v>
                  </c:pt>
                </c:lvl>
              </c:multiLvlStrCache>
            </c:multiLvlStrRef>
          </c:cat>
          <c:val>
            <c:numRef>
              <c:f>Sheet1!$B$2:$B$4</c:f>
              <c:numCache>
                <c:formatCode>General</c:formatCode>
                <c:ptCount val="3"/>
                <c:pt idx="0">
                  <c:v>30.44</c:v>
                </c:pt>
                <c:pt idx="1">
                  <c:v>69.62</c:v>
                </c:pt>
                <c:pt idx="2">
                  <c:v>42.44</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delay for each stop weight K.</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0B3954"/>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0B3954"/>
              </a:solidFill>
              <a:effectLst/>
            </c:spPr>
          </c:dPt>
          <c:dPt>
            <c:idx val="1"/>
            <c:invertIfNegative val="0"/>
            <c:bubble3D val="0"/>
            <c:spPr>
              <a:solidFill>
                <a:srgbClr val="0B3954"/>
              </a:solidFill>
              <a:effectLst/>
            </c:spPr>
          </c:dPt>
          <c:dPt>
            <c:idx val="2"/>
            <c:invertIfNegative val="0"/>
            <c:bubble3D val="0"/>
            <c:spPr>
              <a:solidFill>
                <a:srgbClr val="8F3520"/>
              </a:solidFill>
              <a:effectLst/>
            </c:spPr>
          </c:dPt>
          <c:dPt>
            <c:idx val="3"/>
            <c:invertIfNegative val="0"/>
            <c:bubble3D val="0"/>
            <c:spPr>
              <a:solidFill>
                <a:srgbClr val="0B3954"/>
              </a:solidFill>
              <a:effectLst/>
            </c:spPr>
          </c:dPt>
          <c:dPt>
            <c:idx val="4"/>
            <c:invertIfNegative val="0"/>
            <c:bubble3D val="0"/>
            <c:spPr>
              <a:solidFill>
                <a:srgbClr val="0B3954"/>
              </a:solidFill>
              <a:effectLst/>
            </c:spPr>
          </c:dPt>
          <c:cat>
            <c:multiLvlStrRef>
              <c:f>Sheet1!$A$2:$A$6</c:f>
              <c:multiLvlStrCache>
                <c:ptCount val="5"/>
                <c:lvl>
                  <c:pt idx="0">
                    <c:v>K = 0</c:v>
                  </c:pt>
                  <c:pt idx="1">
                    <c:v>K = 4</c:v>
                  </c:pt>
                  <c:pt idx="2">
                    <c:v>K = 12</c:v>
                  </c:pt>
                  <c:pt idx="3">
                    <c:v>K = 20</c:v>
                  </c:pt>
                  <c:pt idx="4">
                    <c:v>K = 40</c:v>
                  </c:pt>
                </c:lvl>
              </c:multiLvlStrCache>
            </c:multiLvlStrRef>
          </c:cat>
          <c:val>
            <c:numRef>
              <c:f>Sheet1!$B$2:$B$6</c:f>
              <c:numCache>
                <c:formatCode>General</c:formatCode>
                <c:ptCount val="5"/>
                <c:pt idx="0">
                  <c:v>30.06</c:v>
                </c:pt>
                <c:pt idx="1">
                  <c:v>30.44</c:v>
                </c:pt>
                <c:pt idx="2">
                  <c:v>42</c:v>
                </c:pt>
                <c:pt idx="3">
                  <c:v>30.18</c:v>
                </c:pt>
                <c:pt idx="4">
                  <c:v>29.83</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How accurate is the predicted end of green?</a:t>
            </a:r>
          </a:p>
        </c:rich>
      </c:tx>
      <c:layout/>
      <c:overlay val="0"/>
    </c:title>
    <c:autoTitleDeleted val="0"/>
    <c:plotArea>
      <c:layout/>
      <c:lineChart>
        <c:varyColors val="0"/>
        <c:ser>
          <c:idx val="0"/>
          <c:order val="0"/>
          <c:tx>
            <c:strRef>
              <c:f>Sheet1!$B$1</c:f>
              <c:strCache>
                <c:ptCount val="1"/>
                <c:pt idx="0">
                  <c:v>Mean absolute error</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Sheet1!$A$2:$A$8</c:f>
              <c:multiLvlStrCache>
                <c:ptCount val="7"/>
                <c:lvl>
                  <c:pt idx="0">
                    <c:v>0</c:v>
                  </c:pt>
                  <c:pt idx="1">
                    <c:v>10</c:v>
                  </c:pt>
                  <c:pt idx="2">
                    <c:v>20</c:v>
                  </c:pt>
                  <c:pt idx="3">
                    <c:v>30</c:v>
                  </c:pt>
                  <c:pt idx="4">
                    <c:v>40</c:v>
                  </c:pt>
                  <c:pt idx="5">
                    <c:v>50</c:v>
                  </c:pt>
                  <c:pt idx="6">
                    <c:v>60</c:v>
                  </c:pt>
                </c:lvl>
              </c:multiLvlStrCache>
            </c:multiLvlStrRef>
          </c:cat>
          <c:val>
            <c:numRef>
              <c:f>Sheet1!$B$2:$B$8</c:f>
              <c:numCache>
                <c:formatCode>General</c:formatCode>
                <c:ptCount val="7"/>
                <c:pt idx="0">
                  <c:v>2.56</c:v>
                </c:pt>
                <c:pt idx="1">
                  <c:v>1.3</c:v>
                </c:pt>
                <c:pt idx="2">
                  <c:v>1.51</c:v>
                </c:pt>
                <c:pt idx="3">
                  <c:v>2.04</c:v>
                </c:pt>
                <c:pt idx="4">
                  <c:v>2.29</c:v>
                </c:pt>
                <c:pt idx="5">
                  <c:v>2.53</c:v>
                </c:pt>
                <c:pt idx="6">
                  <c:v>2.63</c:v>
                </c:pt>
              </c:numCache>
            </c:numRef>
          </c:val>
          <c:smooth val="0"/>
        </c:ser>
        <c:ser>
          <c:idx val="1"/>
          <c:order val="1"/>
          <c:tx>
            <c:strRef>
              <c:f>Sheet1!$C$1</c:f>
              <c:strCache>
                <c:ptCount val="1"/>
                <c:pt idx="0">
                  <c:v>90th percentile</c:v>
                </c:pt>
              </c:strCache>
            </c:strRef>
          </c:tx>
          <c:spPr>
            <a:solidFill>
              <a:srgbClr val="D08A2C"/>
            </a:solidFill>
            <a:ln w="28575" cap="flat">
              <a:solidFill>
                <a:srgbClr val="D08A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08A2C"/>
              </a:solidFill>
              <a:ln w="9525" cap="flat">
                <a:solidFill>
                  <a:srgbClr val="D08A2C"/>
                </a:solidFill>
                <a:prstDash val="solid"/>
                <a:round/>
              </a:ln>
              <a:effectLst/>
            </c:spPr>
          </c:marker>
          <c:cat>
            <c:multiLvlStrRef>
              <c:f>Sheet1!$A$2:$A$8</c:f>
              <c:multiLvlStrCache>
                <c:ptCount val="7"/>
                <c:lvl>
                  <c:pt idx="0">
                    <c:v>0</c:v>
                  </c:pt>
                  <c:pt idx="1">
                    <c:v>10</c:v>
                  </c:pt>
                  <c:pt idx="2">
                    <c:v>20</c:v>
                  </c:pt>
                  <c:pt idx="3">
                    <c:v>30</c:v>
                  </c:pt>
                  <c:pt idx="4">
                    <c:v>40</c:v>
                  </c:pt>
                  <c:pt idx="5">
                    <c:v>50</c:v>
                  </c:pt>
                  <c:pt idx="6">
                    <c:v>60</c:v>
                  </c:pt>
                </c:lvl>
              </c:multiLvlStrCache>
            </c:multiLvlStrRef>
          </c:cat>
          <c:val>
            <c:numRef>
              <c:f>Sheet1!$C$2:$C$8</c:f>
              <c:numCache>
                <c:formatCode>General</c:formatCode>
                <c:ptCount val="7"/>
                <c:pt idx="0">
                  <c:v>2.43</c:v>
                </c:pt>
                <c:pt idx="1">
                  <c:v>5</c:v>
                </c:pt>
                <c:pt idx="2">
                  <c:v>5.27</c:v>
                </c:pt>
                <c:pt idx="3">
                  <c:v>5.65</c:v>
                </c:pt>
                <c:pt idx="4">
                  <c:v>5.78</c:v>
                </c:pt>
                <c:pt idx="5">
                  <c:v>5.78</c:v>
                </c:pt>
                <c:pt idx="6">
                  <c:v>5.87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prediction horizon (s ahead of the change)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1"/>
      </c:catAx>
      <c:valAx>
        <c:axId val="2094734552"/>
        <c:scaling>
          <c:orientation val="minMax"/>
          <c:max val="7"/>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error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level, but it is still written for beginners. Each idea is explained with an everyday picture first, then a small hand calculation, then what actually happened when we built it on the lab's SUMO controller. Some ideas did not beat standard SCOOT. That is normal in research, and knowing why is the most useful thing you can learn. There are seven ideas; the first one, how to test fairly, is used by all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for today:
- Design a fair test of a new SCOOT idea: one change, same demand, several seeds, every second of delay counted.
- Estimate LPUs from connected vehicles and say how the error depends on penetration.
- Describe a learning split optimiser (state, action, reward) and explain why our first one lost.
- Compute a max-pressure-style exit-blocking score and say when it should help.
- Explain what stuck-on and stuck-off detectors do to SCOOT and how historic substitution recovers.
- Show how the stop weight K changes the best decision, and why single runs can mislead.
- Judge whether a predicted end of green is good enough for speed advice (GLOSA).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memorise these now; each is explained again when it first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one idea; arrows say how one feeds the next. test fairly; test fairly; test fairly; another data source; why several seeds; data quality limits advice; replace the split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easy to make a new controller look good: pick a lucky day, measure only what improves, or quietly push queues off the edge of the map. How do you make sure you are not fooling yourself?
Every study in this level swaps one part of SCOOT through a hook in the controller's settings (the data source, the split chooser, the sensor filter, or the stop weight) and keeps everything else standard. Then any difference in results comes from that one change.
All controllers see identical demand and seeds. A seed fixes the simulation's random dice, so each seed is one 'day'. Because days differ, we run several seeds and report the spread, not the best run.
We report more than delay: stops, bus delay and CO2 can move in different directions. And we count every second of delay, including time vehicles spend waiting to enter the network, so no method can look good by pushing queues off the map. Finally, ask what would stop real deployment: validation effort, explainability, data, and robustness to broken detectors.
Presenter tip: Start with the fertiliser analogy. Show that the same controller gives 33 to 42 s on different days, so any claimed gain must beat that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study, step by step. What to notice: the idea enters at one hook only, and the same seeds and demand go to every controller. Read left to right, then down.
Try it with the audience: A new idea gives 35.0 s on seed 7, against SCOOT's 33.1 s, and 36.0 s on seed 8 against 38.2 s. Can you say it is better or worse?
Answer: Differences: +1.9 s and −2.2 s. They point in opposite directions and are far smaller than the 9 s day-to-day spread. No conclusion yet; run more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Two identical plants = same demand; one label = change one thing; three seeds = several seeds; the vacuum that won't hide queues = count all delay.
Recap: Fair testing: change one thing, same demand and seeds, several seeds with the spread, many measures, count every second of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Upstream loops are expensive and break often. Many cars already report where they are. If only one car in four does, can SCOOT still see the traffic?
A virtual detector is a line on the map where the loop used to be. Count the connected vehicles crossing it, divide by the penetration p (the share of cars that are connected), and multiply by LPUs per vehicle. That gives an estimated LPU count.
The estimate is noisy when p is small: a few connected cars more or less make a big difference after dividing by p. It also misses occupancy, the second part of an LPU. In the open-loop test (estimating LPUs on identical traffic) one-minute totals were off by 121% at p = 5%, 53% at 25% and still 23% at 100%.
In closed loop (SCOOT actually controlling with CV data) the picture was better, because SCOOT smooths profiles over cycles. Delay was 33.9 s at 25% against 30.4 s with loops, and better than loops at 50% and 100% (27.5 and 26.3 s): when queues crawl over a loop, occupancy inflates its LPUs, and counts avoid that. Below 10% control degraded clearly (43.7 s at 5%).
Presenter tip: Use the pollster analogy. Emphasise the open-loop vs closed-loop difference: a noisy sensor can still give good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SCOOT's delay on CV data alone, by penetration. What to notice: delay falls as more cars are connected, crosses the loop-based line between 25% and 50%, and is clearly worse below 10%. SUMO region scenario, seed 1.
Try it with the audience: With 40 vehicles per cycle and p = 50%, what is the spread of the estimate, in vehicles and as a percentage?
Answer: √(40 × 0.5 × 0.5) = √10 = 3.16 connected cars; ÷ 0.5 = 6.3 vehicles, about 16% of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Chalk line = virtual detector; one in four = p = 25% (33.9 s, close to loops 30.4 s); one in twenty = 5%, where control broke down (43.7 s).
Recap: CV data: count connected cars at a virtual detector and divide by p; noisy below 10%, near loops at 25% (33.9 vs 30.4 s), better at 50-100%.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SCOOT's split optimiser chooses between three moves using a rule written by people. Could a program that learns from trial and error choose better, while keeping all of SCOOT's safety limits?
Reinforcement learning (RL) learns a table of how good each action is in each situation. The state is a short description of the situation: which stage is ending, the DoS of the ending and next stage (sorted into bins) and the modelled queue. The action is SCOOT's own choice: −4, 0 or +4 s on the stage change. The reward is minus the change in modelled queue until the next decision.
Only the split choice is learned. Minimum greens, offsets and the cycle optimiser stay as standard SCOOT. That keeps the safety envelope and makes the agent easier to explain and certify than a controller learned from scratch.
What happened. Ten short training runs were unstable (33 to 214 s per episode). On three unseen seeds the greedy agent averaged 67.7 s against SCOOT's 37.8 s, with more than twice the bus delay. The state was too coarse, the reward too noisy and the training far too short. The browser toy on the website shows the idea can work on a small problem.
Presenter tip: Present this as an honest negative result. Discuss richer state, longer training and offline RL from logged SCOOT decisions as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 on three unseen seeds: SCOOT and the RL agent. What to notice: the agent is worse on every seed, by more than SCOOT's own day-to-day spread. SUMO region scenario.
Try it with the audience: Q(s, 0) = −1.0. The agent holds (0), the queue shrinks by 2 LPU so r = +2, and the best next Q is −1.0. With α = 0.5 and γ = 0.9, what is the new Q(s, 0)?
Answer: Target = 2 + 0.9 × (−1.0) = 1.1. Error = 1.1 − (−1.0) = 2.1. New Q = −1.0 + 0.5 × 2.1 = 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Three bones = the action set; treat/buzz = reward; ten lessons = too little training; 67.7 vs 37.8 s = the RL agent against SCOOT.
Recap: RL splits: learn only SCOOT's −4/0/+4 choice (state: DoS and queue bins; reward: −Δqueue); first agent 67.7 s vs SCOOT 37.8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SCOOT looks at the approach road. Max-pressure also looks at where the traffic is going. If the exit is full, giving green is pointless. Should SCOOT steal that idea?
Max-pressure (Varaiya, 2013) gives green to the movement with the biggest 'pressure': upstream queue minus downstream queue. It reacts to blocked exits, but it is acyclic (no fixed cycle), so it cannot keep green waves between junctions.
The lab also built an exit-aware SCOOT: when scoring split options, each link's DoS is divided by (1 + λ × blocking), where blocking measures how far the downstream link's modelled queue is above 30% of its storage. A stage whose exit is filling up looks less urgent.
What happened. Pure max-pressure doubled delay on 300 m links (68.3 against 30.4 s) and almost tripled stops. On 120 m links it collapsed into spill-back gridlock (224.4 s). Exit-aware SCOOT changed no decisions on 300 m links (no exit filled) and 8 decisions on 120 m links, ending slightly worse (29.7 against 28.7 s). SCOOT's own optimisers already kept exits clear here.
Presenter tip: Ask the audience to predict the max-pressure result before showing it. Point out the next step: a grid with short links where spill-back really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delay: SCOOT, max-pressure and exit-aware SCOOT. What to notice: max-pressure is far worse on both spacings and collapses on short links; exit-aware SCOOT is close to plain SCOOT. Same demand and seed.
Try it with the audience: Same junction, but A's exit holds only 14 of 40 vehicles. Which stage does exit-aware SCOOT favour?
Answer: Fill 14 ÷ 40 = 0.35; blocking = (0.35 − 0.3) ÷ 0.7 = 0.071. Score A = 0.95 ÷ (1 + 2 × 0.071) = 0.95 ÷ 1.143 = 0.83 &gt; 0.80, so it still favours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Pressure difference = max-pressure; no smooth flow = no progression (68.3 s on 300 m); short pipes bursting = spill-back gridlock (224.4 s at 120 m); fullness dial = exit-aware score.
Recap: Max-pressure: upstream − downstream, no cycle: 68.3 s (300 m), 224 s (120 m) vs SCOOT 30.4 / 28.7 s; exit-aware SCOOT 29.7 s, no 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SCOOT link depends on one upstream loop. Loops break. A broken loop does not go quiet politely: it can shout 'traffic!' forever. What does that do to the whole network?
A stuck-on detector reports a solid queue. SCOOT sees huge demand and congestion, starves the other stages and lengthens the cycle. A stuck-off detector reports no traffic, so the link's green shrinks to its minimum while real vehicles queue.
SCOOT's fault logic flags implausible detectors. In the lab a detector is flagged after 2 minutes continuously occupied or 10 minutes silent. Then each link's cyclic profile recorded before the failure is used instead, as SCOOT does with its ASTRID database of history.
What happened. 30% of detectors were set to fail at minute 25: 13 of 40, half stuck on, half stuck off. Using their data as if real more than doubled delay (69.6 against 30.4 s). Substituting history brought it back to 42.4 s, recovering about 70% of the loss, with stops slightly below the healthy run.
Presenter tip: Use the broken bathroom scale. Stress that history goes stale on unusual days; ask what other substitute data could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 with 13 failed detectors. What to notice: trusting broken detectors costs far more than using last week's pattern. 90-minute region scenario, failures from minute 25.
Try it with the audience: Suppose a better substitute brought delay with faults to 35.0 s. What share of the loss would it recover?
Answer: (69.62 − 35.0) ÷ (69.62 − 30.44) = 34.62 ÷ 39.18 = 0.88, about 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13 of 40 broken = failed detectors; 999 = stuck on, zero = stuck off; the photo album = historic (ASTRID) substitution; 70% = share of the loss recovered.
Recap: Faults: stuck-on and stuck-off loops mislead the model; flag implausible ones and substitute history: 69.6 → 42.4 s (healthy 30.4), ~70%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stop burns extra fuel to get moving again. SCOOT's performance index already has a knob, K, for how much a stop matters. Turn it up and you should get fewer stops and less CO2. Did we?
The optimisers minimise PI = delay + K × stops. K is in seconds of delay per stop. K = 0 ignores stops; a large K prefers smooth flow even if waits get a little longer. TRANSYT's fuel-minimising weighting is about 20 s per stop; SCOOT normally uses much less. SCOOT has offered emissions optimisation since version 4.4.
The lab ran K = 0, 4, 12, 20 and 40 on the region, with SUMO's HBEFA emission model giving CO2 for every vehicle.
What happened. No clean trade-off. K = 0, 4, 20 and 40 all gave about 30 s delay, 1.05 to 1.15 stops per vehicle and 227 to 230 g CO2 per vehicle. K = 12 was worse on every measure (42.0 s, 244 g) because one early decision sent the cycle optimiser down a different path. Lesson: SCOOT runs are path-dependent; test settings over several seeds.
Presenter tip: Work the break-even example on the board. Then use the K = 12 outlier to teach why single runs mislead, linking back to concept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delay for each stop weight K. What to notice: K = 0, 4, 20 and 40 all give about 30 s (and 227-230 g of CO2 per vehicle); K = 12 is the odd one out on every measure (42.0 s, 244 g), a sign of path dependence rather than a real effect of K. SUMO region scenario, seed 1.
Try it with the audience: Offset A: delay 250, 10 stops. Offset B: delay 280, 4 stops. Find the break-even K, and the winner at K = 4.
Answer: Break-even = (280 − 250) ÷ (10 − 4) = 30 ÷ 6 = 5 s per stop. At K = 4: PIA = 250 + 40 = 290, PIB = 280 + 16 = 296, so A wins (K is below break-even).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K dial = stop weight; balloon = CO2 (227-230 g); the wrong first turn at K = 12 = path dependence (42 s, 244 g).
Recap: Stop weight K: PI = delay + K·stops; K = 0/4/20/40 gave ~30 s and 227-230 g; K = 12 was a path-dependent outlier (42 s, 244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 200 m from the lights could slow gently and arrive just as they turn green, never stopping. But only if someone can say, seconds ahead, when the light will change. Can SCOOT?
GLOSA (Green Light Optimal Speed Advisory) tells a driver which speed will reach the stop line on green. It needs to know when the current green will end. SCOOT keeps a schedule and changes it only in small steps, so its current schedule is a natural prediction.
At every second of every green the lab predicted the end of green from SCOOT's current schedule and compared it with what really happened. The horizon is how far ahead the prediction was made. MAE (mean absolute error) is the average size of the miss.
What happened. MAE was between 1.3 and 2.6 s for horizons up to a minute, and 90% of predictions were within 6 s. The last 10 s had higher error (2.6 s) than 10 s ahead (1.3 s), most likely from bus extensions and recalls; longer horizons add split, offset and cycle changes.
Presenter tip: Do the driver example together. Discuss freezing SCOOT's schedule once a prediction has been published, and the trade-off with adaptivity.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accurate is the predicted end of green? What to notice: the average error stays small (1.3-2.6 s) out to a minute, while the 90th percentile stays under 6 s. The last 10 s are worse than 10 s ahead.
Try it with the audience: Green predicted to end in 20 s; the car is 220 m away at 13.9 m/s. Margin? Safe to advise 'keep going' if the 90th percentile error is 5.3 s?
Answer: Time needed 220 ÷ 13.9 = 15.8 s; margin 20 − 15.8 = 4.2 s. That is below 5.3 s, so not safe on a bad day; advise caution.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Crystal ball = prediction from SCOOT's schedule; 1-2 s = MAE 1.3-2.6 s; the bus = bus extensions at short notice; 'six' = 90th percentile under 6 s.
Recap: GLOSA: predict end of green from SCOOT's schedule; MAE 1.3-2.6 s up to 60 s ahead, 90% within 6 s; advice must respect the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√(20 × 0.25 × 0.75) = 1.94 connected cars, ÷ 0.25 = 7.7. 1.9 forgets to divide by p; 19.5 is the 5% case.
Answer: B. Acyclic switching breaks platoon progression; delay doubled to 68.3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PI A = 460, PI B = 420. The break-even is 6.7 s per stop.
Answer: B. Blocking is 0 below 30% fill; the idea needs a network where exits actually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1, Twin-plant entrance stand: At the entrance a judge in a white coat holds two identical potted plants, each with three seeds glued on the pot. She changes the label on ONE pot only, then weighs both on a huge brass scale while a vacuum cleaner under the table refuses to suck any queue off the stage. (Two identical plants = same demand; one label = change one thing; three seeds = several seeds; the vacuum that won't hide queues = count all delay.)
Stop 2, Glowing-phone crowd: At the second stand a crowd walks past a chalk line. Only one in four people carries a glowing phone. A bouncer counts the glowing phones and shouts the number times four through a megaphone. When only one person in twenty glows, his guesses jump wildly and he falls off his stool. (Chalk line = virtual detector; one in four = p = 25% (33.9 s, close to loops 30.4 s); one in twenty = 5%, where control broke down (43.7 s).)
Stop 3, Robot-puppy stand: A clockwork robot puppy has three bones labelled −4, 0 and +4. It grabs a bone, gets a treat or a buzz, and after only ten lessons it is spinning in circles, knocking over a sign reading 67.7, while an old sheepdog calmly herds traffic under a sign reading 37.8. (Three bones = the action set; treat/buzz = reward; ten lessons = too little training; 67.7 vs 37.8 s = the RL agent against SCOOT.)
Stop 4, Plumbing stand: A wall of pipes with pressure gauges. A plumber opens whichever valve shows the biggest pressure difference, so water squirts in random bursts and never flows smoothly. On the short pipes (120 cm) they burst, soaking a sign reading 224. Next door, a careful plumber divides each gauge by a 'fullness' dial before turning a valve. (Pressure difference = max-pressure; no smooth flow = no progression (68.3 s on 300 m); short pipes bursting = spill-back gridlock (224.4 s at 120 m); fullness dial = exit-aware score.)
Stop 5, Broken-scale stand: A row of 40 bathroom scales; 13 are broken. Some flash 999 forever, others show zero while an elephant stands on them. A librarian with a dusty photo album walks along, covering each broken scale with an old photo of what it used to read. A banner shows 70% in big letters. (13 of 40 broken = failed detectors; 999 = stuck on, zero = stuck off; the photo album = historic (ASTRID) substitution; 70% = share of the loss recovered.)
Stop 6, Exhaust-balloon stand: A toy car drives a little track with a dial labelled K. Every time it stops, a balloon inflates on its exhaust. At K = 0, 4, 20 and 40 the balloons are all the same size, about 228 grams. At K = 12 the car takes a wrong turn at the very first corner and a giant balloon pops. (K dial = stop weight; balloon = CO2 (227-230 g); the wrong first turn at K = 12 = path dependence (42 s, 244 g).)
Stop 7, Fortune-teller tent: In the last tent a fortune teller gazes into a crystal ball shaped like a traffic light and announces 'green ends in 15 seconds!'. She is usually off by only one or two seconds, but a bus keeps barging into the tent at the last moment and she yells 'six!' to cover herself. (Crystal ball = prediction from SCOOT's schedule; 1-2 s = MAE 1.3-2.6 s; the bus = bus extensions at short notice; 'six' = 90th percentile under 6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study guide for the full worked examples, quiz and revision plan, and to the website for the simulators.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D5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D5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lstStyle>
            <a:lvl1pPr indent="0" marL="0">
              <a:buNone/>
              <a:defRPr lang="en-US" sz="2400" b="1" dirty="0">
                <a:solidFill>
                  <a:schemeClr val="tx2"/>
                </a:solidFill>
              </a:defRPr>
            </a:lvl1pPr>
          </a:lstStyle>
          <a:p>
            <a:pPr indent="0" marL="0">
              <a:buNone/>
            </a:pPr>
            <a:endParaRPr lang="en-US" sz="2400" dirty="0"/>
          </a:p>
        </p:txBody>
      </p:sp>
      <p:sp>
        <p:nvSpPr>
          <p:cNvPr id="3" name="Text 0"/>
          <p:cNvSpPr/>
          <p:nvPr/>
        </p:nvSpPr>
        <p:spPr>
          <a:xfrm>
            <a:off x="411480" y="4828032"/>
            <a:ext cx="5486400" cy="228600"/>
          </a:xfrm>
          <a:prstGeom prst="rect">
            <a:avLst/>
          </a:prstGeom>
          <a:noFill/>
          <a:ln/>
        </p:spPr>
        <p:txBody>
          <a:bodyPr wrap="square" rtlCol="0" anchor="ctr"/>
          <a:lstStyle/>
          <a:p>
            <a:pPr indent="0" marL="0">
              <a:buNone/>
            </a:pPr>
            <a:r>
              <a:rPr lang="en-US" sz="900" dirty="0">
                <a:solidFill>
                  <a:schemeClr val="tx1">
                    <a:alpha val="60000"/>
                  </a:schemeClr>
                </a:solidFill>
              </a:rPr>
              <a:t>SCOOT Learning Lab · Mastery</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What comes after SCOOT? Six experiments, reported honestly</a:t>
            </a: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nchor="t"/>
          <a:lstStyle/>
          <a:p>
            <a:pPr indent="0" marL="0">
              <a:buNone/>
            </a:pPr>
            <a:r>
              <a:rPr lang="en-US" sz="1600" dirty="0">
                <a:solidFill>
                  <a:schemeClr val="bg1"/>
                </a:solidFill>
              </a:rPr>
              <a:t>Connected cars, learning agents, max-pressure, broken loops, emissions and speed advice: each idea built, tested in SUMO and measured fairly.</a:t>
            </a:r>
            <a:endParaRPr lang="en-US" sz="1600" dirty="0"/>
          </a:p>
        </p:txBody>
      </p:sp>
      <p:sp>
        <p:nvSpPr>
          <p:cNvPr id="4" name="level pill"/>
          <p:cNvSpPr/>
          <p:nvPr/>
        </p:nvSpPr>
        <p:spPr>
          <a:xfrm>
            <a:off x="548640" y="502920"/>
            <a:ext cx="2377440" cy="384048"/>
          </a:xfrm>
          <a:prstGeom prst="roundRect">
            <a:avLst>
              <a:gd name="adj" fmla="val 19048"/>
            </a:avLst>
          </a:prstGeom>
          <a:solidFill>
            <a:srgbClr val="D08A2C"/>
          </a:solidFill>
          <a:ln w="12700">
            <a:solidFill>
              <a:srgbClr val="D08A2C"/>
            </a:solidFill>
            <a:prstDash val="solid"/>
          </a:ln>
        </p:spPr>
      </p:sp>
      <p:sp>
        <p:nvSpPr>
          <p:cNvPr id="5" name="Text 3"/>
          <p:cNvSpPr txBox="1"/>
          <p:nvPr/>
        </p:nvSpPr>
        <p:spPr>
          <a:xfrm>
            <a:off x="548640" y="502920"/>
            <a:ext cx="2377440" cy="384048"/>
          </a:xfrm>
          <a:prstGeom prst="rect">
            <a:avLst/>
          </a:prstGeom>
          <a:noFill/>
          <a:ln/>
        </p:spPr>
        <p:txBody>
          <a:bodyPr wrap="square" lIns="0" tIns="0" rIns="0" bIns="0" rtlCol="0" anchor="ctr"/>
          <a:lstStyle/>
          <a:p>
            <a:pPr algn="ctr" indent="0" marL="0">
              <a:buNone/>
            </a:pPr>
            <a:r>
              <a:rPr lang="en-US" sz="1200" b="1" dirty="0">
                <a:solidFill>
                  <a:srgbClr val="1A1A1A"/>
                </a:solidFill>
              </a:rPr>
              <a:t>SCOOT · Level 3 · Mastery</a:t>
            </a:r>
            <a:endParaRPr lang="en-US" sz="1200" dirty="0"/>
          </a:p>
        </p:txBody>
      </p:sp>
      <p:sp>
        <p:nvSpPr>
          <p:cNvPr id="6" name="Text 4"/>
          <p:cNvSpPr txBox="1"/>
          <p:nvPr/>
        </p:nvSpPr>
        <p:spPr>
          <a:xfrm>
            <a:off x="548640" y="4434840"/>
            <a:ext cx="5486400" cy="320040"/>
          </a:xfrm>
          <a:prstGeom prst="rect">
            <a:avLst/>
          </a:prstGeom>
          <a:noFill/>
          <a:ln/>
        </p:spPr>
        <p:txBody>
          <a:bodyPr wrap="square" rtlCol="0" anchor="ctr"/>
          <a:lstStyle/>
          <a:p>
            <a:pPr indent="0" marL="0">
              <a:buNone/>
            </a:pPr>
            <a:r>
              <a:rPr lang="en-US" sz="1100" dirty="0">
                <a:solidFill>
                  <a:srgbClr val="FFFFFF">
                    <a:alpha val="75000"/>
                  </a:srgbClr>
                </a:solidFill>
              </a:rPr>
              <a:t>smrahmanbd.github.io/scoot-learning-lab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7 ideas, each building on the last</a:t>
            </a:r>
            <a:endParaRPr lang="en-US" sz="2400" dirty="0"/>
          </a:p>
        </p:txBody>
      </p:sp>
      <p:sp>
        <p:nvSpPr>
          <p:cNvPr id="3" name="concept card 1"/>
          <p:cNvSpPr/>
          <p:nvPr/>
        </p:nvSpPr>
        <p:spPr>
          <a:xfrm>
            <a:off x="411480" y="1005840"/>
            <a:ext cx="2651760" cy="1078992"/>
          </a:xfrm>
          <a:prstGeom prst="roundRect">
            <a:avLst>
              <a:gd name="adj" fmla="val 6780"/>
            </a:avLst>
          </a:prstGeom>
          <a:solidFill>
            <a:srgbClr val="EEF4F0"/>
          </a:solidFill>
          <a:ln w="12700">
            <a:solidFill>
              <a:srgbClr val="EEF4F0"/>
            </a:solidFill>
            <a:prstDash val="solid"/>
          </a:ln>
        </p:spPr>
      </p:sp>
      <p:sp>
        <p:nvSpPr>
          <p:cNvPr id="4" name="dot 1"/>
          <p:cNvSpPr/>
          <p:nvPr/>
        </p:nvSpPr>
        <p:spPr>
          <a:xfrm>
            <a:off x="548640" y="1143000"/>
            <a:ext cx="384048" cy="384048"/>
          </a:xfrm>
          <a:prstGeom prst="ellipse">
            <a:avLst/>
          </a:prstGeom>
          <a:solidFill>
            <a:srgbClr val="0B3954"/>
          </a:solidFill>
          <a:ln w="12700">
            <a:solidFill>
              <a:srgbClr val="0B3954"/>
            </a:solidFill>
            <a:prstDash val="solid"/>
          </a:ln>
        </p:spPr>
      </p:sp>
      <p:sp>
        <p:nvSpPr>
          <p:cNvPr id="5" name="Text 3"/>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0584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How to evaluate a new SCOOT idea</a:t>
            </a:r>
            <a:endParaRPr lang="en-US" sz="1300" dirty="0"/>
          </a:p>
        </p:txBody>
      </p:sp>
      <p:sp>
        <p:nvSpPr>
          <p:cNvPr id="7" name="Text 5"/>
          <p:cNvSpPr txBox="1"/>
          <p:nvPr/>
        </p:nvSpPr>
        <p:spPr>
          <a:xfrm>
            <a:off x="54864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9 s  spread of SCOOT's delay across three seeds</a:t>
            </a:r>
            <a:endParaRPr lang="en-US" sz="1050" dirty="0"/>
          </a:p>
        </p:txBody>
      </p:sp>
      <p:sp>
        <p:nvSpPr>
          <p:cNvPr id="8" name="concept card 2"/>
          <p:cNvSpPr/>
          <p:nvPr/>
        </p:nvSpPr>
        <p:spPr>
          <a:xfrm>
            <a:off x="3246120" y="1005840"/>
            <a:ext cx="2651760" cy="1078992"/>
          </a:xfrm>
          <a:prstGeom prst="roundRect">
            <a:avLst>
              <a:gd name="adj" fmla="val 6780"/>
            </a:avLst>
          </a:prstGeom>
          <a:solidFill>
            <a:srgbClr val="EEF4F0"/>
          </a:solidFill>
          <a:ln w="12700">
            <a:solidFill>
              <a:srgbClr val="EEF4F0"/>
            </a:solidFill>
            <a:prstDash val="solid"/>
          </a:ln>
        </p:spPr>
      </p:sp>
      <p:sp>
        <p:nvSpPr>
          <p:cNvPr id="9" name="dot 2"/>
          <p:cNvSpPr/>
          <p:nvPr/>
        </p:nvSpPr>
        <p:spPr>
          <a:xfrm>
            <a:off x="3383280" y="1143000"/>
            <a:ext cx="384048" cy="384048"/>
          </a:xfrm>
          <a:prstGeom prst="ellipse">
            <a:avLst/>
          </a:prstGeom>
          <a:solidFill>
            <a:srgbClr val="04505A"/>
          </a:solidFill>
          <a:ln w="12700">
            <a:solidFill>
              <a:srgbClr val="04505A"/>
            </a:solidFill>
            <a:prstDash val="solid"/>
          </a:ln>
        </p:spPr>
      </p:sp>
      <p:sp>
        <p:nvSpPr>
          <p:cNvPr id="10" name="Text 8"/>
          <p:cNvSpPr txBox="1"/>
          <p:nvPr/>
        </p:nvSpPr>
        <p:spPr>
          <a:xfrm>
            <a:off x="338328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84048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SCOOT on connected-vehicle data</a:t>
            </a:r>
            <a:endParaRPr lang="en-US" sz="1300" dirty="0"/>
          </a:p>
        </p:txBody>
      </p:sp>
      <p:sp>
        <p:nvSpPr>
          <p:cNvPr id="12" name="Text 10"/>
          <p:cNvSpPr txBox="1"/>
          <p:nvPr/>
        </p:nvSpPr>
        <p:spPr>
          <a:xfrm>
            <a:off x="338328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33.9 s  delay with 25% connected cars (loops: 30.4 s)</a:t>
            </a:r>
            <a:endParaRPr lang="en-US" sz="1050" dirty="0"/>
          </a:p>
        </p:txBody>
      </p:sp>
      <p:sp>
        <p:nvSpPr>
          <p:cNvPr id="13" name="concept card 3"/>
          <p:cNvSpPr/>
          <p:nvPr/>
        </p:nvSpPr>
        <p:spPr>
          <a:xfrm>
            <a:off x="6080760" y="1005840"/>
            <a:ext cx="2651760" cy="1078992"/>
          </a:xfrm>
          <a:prstGeom prst="roundRect">
            <a:avLst>
              <a:gd name="adj" fmla="val 6780"/>
            </a:avLst>
          </a:prstGeom>
          <a:solidFill>
            <a:srgbClr val="EEF4F0"/>
          </a:solidFill>
          <a:ln w="12700">
            <a:solidFill>
              <a:srgbClr val="EEF4F0"/>
            </a:solidFill>
            <a:prstDash val="solid"/>
          </a:ln>
        </p:spPr>
      </p:sp>
      <p:sp>
        <p:nvSpPr>
          <p:cNvPr id="14" name="dot 3"/>
          <p:cNvSpPr/>
          <p:nvPr/>
        </p:nvSpPr>
        <p:spPr>
          <a:xfrm>
            <a:off x="6217920" y="1143000"/>
            <a:ext cx="384048" cy="384048"/>
          </a:xfrm>
          <a:prstGeom prst="ellipse">
            <a:avLst/>
          </a:prstGeom>
          <a:solidFill>
            <a:srgbClr val="2F5A1C"/>
          </a:solidFill>
          <a:ln w="12700">
            <a:solidFill>
              <a:srgbClr val="2F5A1C"/>
            </a:solidFill>
            <a:prstDash val="solid"/>
          </a:ln>
        </p:spPr>
      </p:sp>
      <p:sp>
        <p:nvSpPr>
          <p:cNvPr id="15" name="Text 13"/>
          <p:cNvSpPr txBox="1"/>
          <p:nvPr/>
        </p:nvSpPr>
        <p:spPr>
          <a:xfrm>
            <a:off x="621792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667512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A learning split optimiser</a:t>
            </a:r>
            <a:endParaRPr lang="en-US" sz="1300" dirty="0"/>
          </a:p>
        </p:txBody>
      </p:sp>
      <p:sp>
        <p:nvSpPr>
          <p:cNvPr id="17" name="Text 15"/>
          <p:cNvSpPr txBox="1"/>
          <p:nvPr/>
        </p:nvSpPr>
        <p:spPr>
          <a:xfrm>
            <a:off x="621792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67.7 s  RL agent delay on unseen days (SCOOT 37.8 s)</a:t>
            </a:r>
            <a:endParaRPr lang="en-US" sz="1050" dirty="0"/>
          </a:p>
        </p:txBody>
      </p:sp>
      <p:sp>
        <p:nvSpPr>
          <p:cNvPr id="18" name="concept card 4"/>
          <p:cNvSpPr/>
          <p:nvPr/>
        </p:nvSpPr>
        <p:spPr>
          <a:xfrm>
            <a:off x="411480" y="2249424"/>
            <a:ext cx="2651760" cy="1078992"/>
          </a:xfrm>
          <a:prstGeom prst="roundRect">
            <a:avLst>
              <a:gd name="adj" fmla="val 6780"/>
            </a:avLst>
          </a:prstGeom>
          <a:solidFill>
            <a:srgbClr val="EEF4F0"/>
          </a:solidFill>
          <a:ln w="12700">
            <a:solidFill>
              <a:srgbClr val="EEF4F0"/>
            </a:solidFill>
            <a:prstDash val="solid"/>
          </a:ln>
        </p:spPr>
      </p:sp>
      <p:sp>
        <p:nvSpPr>
          <p:cNvPr id="19" name="dot 4"/>
          <p:cNvSpPr/>
          <p:nvPr/>
        </p:nvSpPr>
        <p:spPr>
          <a:xfrm>
            <a:off x="548640" y="2386584"/>
            <a:ext cx="384048" cy="384048"/>
          </a:xfrm>
          <a:prstGeom prst="ellipse">
            <a:avLst/>
          </a:prstGeom>
          <a:solidFill>
            <a:srgbClr val="8F3520"/>
          </a:solidFill>
          <a:ln w="12700">
            <a:solidFill>
              <a:srgbClr val="8F3520"/>
            </a:solidFill>
            <a:prstDash val="solid"/>
          </a:ln>
        </p:spPr>
      </p:sp>
      <p:sp>
        <p:nvSpPr>
          <p:cNvPr id="20" name="Text 1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100584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Max-pressure and spill-back-aware SCOOT</a:t>
            </a:r>
            <a:endParaRPr lang="en-US" sz="1300" dirty="0"/>
          </a:p>
        </p:txBody>
      </p:sp>
      <p:sp>
        <p:nvSpPr>
          <p:cNvPr id="22" name="Text 20"/>
          <p:cNvSpPr txBox="1"/>
          <p:nvPr/>
        </p:nvSpPr>
        <p:spPr>
          <a:xfrm>
            <a:off x="54864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224 s  max-pressure delay on 120 m links (SCOOT 28.7 s)</a:t>
            </a:r>
            <a:endParaRPr lang="en-US" sz="1050" dirty="0"/>
          </a:p>
        </p:txBody>
      </p:sp>
      <p:sp>
        <p:nvSpPr>
          <p:cNvPr id="23" name="concept card 5"/>
          <p:cNvSpPr/>
          <p:nvPr/>
        </p:nvSpPr>
        <p:spPr>
          <a:xfrm>
            <a:off x="3246120" y="2249424"/>
            <a:ext cx="2651760" cy="1078992"/>
          </a:xfrm>
          <a:prstGeom prst="roundRect">
            <a:avLst>
              <a:gd name="adj" fmla="val 6780"/>
            </a:avLst>
          </a:prstGeom>
          <a:solidFill>
            <a:srgbClr val="EEF4F0"/>
          </a:solidFill>
          <a:ln w="12700">
            <a:solidFill>
              <a:srgbClr val="EEF4F0"/>
            </a:solidFill>
            <a:prstDash val="solid"/>
          </a:ln>
        </p:spPr>
      </p:sp>
      <p:sp>
        <p:nvSpPr>
          <p:cNvPr id="24" name="dot 5"/>
          <p:cNvSpPr/>
          <p:nvPr/>
        </p:nvSpPr>
        <p:spPr>
          <a:xfrm>
            <a:off x="3383280" y="2386584"/>
            <a:ext cx="384048" cy="384048"/>
          </a:xfrm>
          <a:prstGeom prst="ellipse">
            <a:avLst/>
          </a:prstGeom>
          <a:solidFill>
            <a:srgbClr val="7A4412"/>
          </a:solidFill>
          <a:ln w="12700">
            <a:solidFill>
              <a:srgbClr val="7A4412"/>
            </a:solidFill>
            <a:prstDash val="solid"/>
          </a:ln>
        </p:spPr>
      </p:sp>
      <p:sp>
        <p:nvSpPr>
          <p:cNvPr id="25" name="Text 23"/>
          <p:cNvSpPr txBox="1"/>
          <p:nvPr/>
        </p:nvSpPr>
        <p:spPr>
          <a:xfrm>
            <a:off x="338328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384048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Detector faults and historic substitution</a:t>
            </a:r>
            <a:endParaRPr lang="en-US" sz="1300" dirty="0"/>
          </a:p>
        </p:txBody>
      </p:sp>
      <p:sp>
        <p:nvSpPr>
          <p:cNvPr id="27" name="Text 25"/>
          <p:cNvSpPr txBox="1"/>
          <p:nvPr/>
        </p:nvSpPr>
        <p:spPr>
          <a:xfrm>
            <a:off x="338328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70%  of the fault damage recovered by historic profiles</a:t>
            </a:r>
            <a:endParaRPr lang="en-US" sz="1050" dirty="0"/>
          </a:p>
        </p:txBody>
      </p:sp>
      <p:sp>
        <p:nvSpPr>
          <p:cNvPr id="28" name="concept card 6"/>
          <p:cNvSpPr/>
          <p:nvPr/>
        </p:nvSpPr>
        <p:spPr>
          <a:xfrm>
            <a:off x="6080760" y="2249424"/>
            <a:ext cx="2651760" cy="1078992"/>
          </a:xfrm>
          <a:prstGeom prst="roundRect">
            <a:avLst>
              <a:gd name="adj" fmla="val 6780"/>
            </a:avLst>
          </a:prstGeom>
          <a:solidFill>
            <a:srgbClr val="EEF4F0"/>
          </a:solidFill>
          <a:ln w="12700">
            <a:solidFill>
              <a:srgbClr val="EEF4F0"/>
            </a:solidFill>
            <a:prstDash val="solid"/>
          </a:ln>
        </p:spPr>
      </p:sp>
      <p:sp>
        <p:nvSpPr>
          <p:cNvPr id="29" name="dot 6"/>
          <p:cNvSpPr/>
          <p:nvPr/>
        </p:nvSpPr>
        <p:spPr>
          <a:xfrm>
            <a:off x="6217920" y="2386584"/>
            <a:ext cx="384048" cy="384048"/>
          </a:xfrm>
          <a:prstGeom prst="ellipse">
            <a:avLst/>
          </a:prstGeom>
          <a:solidFill>
            <a:srgbClr val="5A2F38"/>
          </a:solidFill>
          <a:ln w="12700">
            <a:solidFill>
              <a:srgbClr val="5A2F38"/>
            </a:solidFill>
            <a:prstDash val="solid"/>
          </a:ln>
        </p:spPr>
      </p:sp>
      <p:sp>
        <p:nvSpPr>
          <p:cNvPr id="30" name="Text 28"/>
          <p:cNvSpPr txBox="1"/>
          <p:nvPr/>
        </p:nvSpPr>
        <p:spPr>
          <a:xfrm>
            <a:off x="621792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667512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Emissions-aware SCOOT: the price of a stop</a:t>
            </a:r>
            <a:endParaRPr lang="en-US" sz="1300" dirty="0"/>
          </a:p>
        </p:txBody>
      </p:sp>
      <p:sp>
        <p:nvSpPr>
          <p:cNvPr id="32" name="Text 30"/>
          <p:cNvSpPr txBox="1"/>
          <p:nvPr/>
        </p:nvSpPr>
        <p:spPr>
          <a:xfrm>
            <a:off x="621792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~228 g  CO2 per vehicle for K = 0, 4, 20 and 40</a:t>
            </a:r>
            <a:endParaRPr lang="en-US" sz="1050" dirty="0"/>
          </a:p>
        </p:txBody>
      </p:sp>
      <p:sp>
        <p:nvSpPr>
          <p:cNvPr id="33" name="concept card 7"/>
          <p:cNvSpPr/>
          <p:nvPr/>
        </p:nvSpPr>
        <p:spPr>
          <a:xfrm>
            <a:off x="411480" y="3493008"/>
            <a:ext cx="2651760" cy="1078992"/>
          </a:xfrm>
          <a:prstGeom prst="roundRect">
            <a:avLst>
              <a:gd name="adj" fmla="val 6780"/>
            </a:avLst>
          </a:prstGeom>
          <a:solidFill>
            <a:srgbClr val="EEF4F0"/>
          </a:solidFill>
          <a:ln w="12700">
            <a:solidFill>
              <a:srgbClr val="EEF4F0"/>
            </a:solidFill>
            <a:prstDash val="solid"/>
          </a:ln>
        </p:spPr>
      </p:sp>
      <p:sp>
        <p:nvSpPr>
          <p:cNvPr id="34" name="dot 7"/>
          <p:cNvSpPr/>
          <p:nvPr/>
        </p:nvSpPr>
        <p:spPr>
          <a:xfrm>
            <a:off x="548640" y="3630168"/>
            <a:ext cx="384048" cy="384048"/>
          </a:xfrm>
          <a:prstGeom prst="ellipse">
            <a:avLst/>
          </a:prstGeom>
          <a:solidFill>
            <a:srgbClr val="3F3266"/>
          </a:solidFill>
          <a:ln w="12700">
            <a:solidFill>
              <a:srgbClr val="3F3266"/>
            </a:solidFill>
            <a:prstDash val="solid"/>
          </a:ln>
        </p:spPr>
      </p:sp>
      <p:sp>
        <p:nvSpPr>
          <p:cNvPr id="35" name="Text 33"/>
          <p:cNvSpPr txBox="1"/>
          <p:nvPr/>
        </p:nvSpPr>
        <p:spPr>
          <a:xfrm>
            <a:off x="54864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6" name="Text 34"/>
          <p:cNvSpPr txBox="1"/>
          <p:nvPr/>
        </p:nvSpPr>
        <p:spPr>
          <a:xfrm>
            <a:off x="1005840" y="3566160"/>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Predicting stage changes for GLOSA</a:t>
            </a:r>
            <a:endParaRPr lang="en-US" sz="1300" dirty="0"/>
          </a:p>
        </p:txBody>
      </p:sp>
      <p:sp>
        <p:nvSpPr>
          <p:cNvPr id="37" name="Text 35"/>
          <p:cNvSpPr txBox="1"/>
          <p:nvPr/>
        </p:nvSpPr>
        <p:spPr>
          <a:xfrm>
            <a:off x="548640" y="4133088"/>
            <a:ext cx="2377440" cy="347472"/>
          </a:xfrm>
          <a:prstGeom prst="rect">
            <a:avLst/>
          </a:prstGeom>
          <a:noFill/>
          <a:ln/>
        </p:spPr>
        <p:txBody>
          <a:bodyPr wrap="square" lIns="0" tIns="0" rIns="0" bIns="0" rtlCol="0" anchor="t"/>
          <a:lstStyle/>
          <a:p>
            <a:pPr indent="0" marL="0">
              <a:buNone/>
            </a:pPr>
            <a:r>
              <a:rPr lang="en-US" sz="1050" dirty="0">
                <a:solidFill>
                  <a:schemeClr val="tx1"/>
                </a:solidFill>
              </a:rPr>
              <a:t>1.3-2.6 s  mean error of predicted end of green, up to 60 s ahead</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surprises to start</a:t>
            </a:r>
            <a:endParaRPr lang="en-US" sz="2400" dirty="0"/>
          </a:p>
        </p:txBody>
      </p:sp>
      <p:sp>
        <p:nvSpPr>
          <p:cNvPr id="3" name="hook 1"/>
          <p:cNvSpPr/>
          <p:nvPr/>
        </p:nvSpPr>
        <p:spPr>
          <a:xfrm>
            <a:off x="411480" y="1005840"/>
            <a:ext cx="2651760" cy="3566160"/>
          </a:xfrm>
          <a:prstGeom prst="roundRect">
            <a:avLst>
              <a:gd name="adj" fmla="val 2759"/>
            </a:avLst>
          </a:prstGeom>
          <a:solidFill>
            <a:srgbClr val="EEF4F0"/>
          </a:solidFill>
          <a:ln w="12700">
            <a:solidFill>
              <a:srgbClr val="EEF4F0"/>
            </a:solidFill>
            <a:prstDash val="solid"/>
          </a:ln>
        </p:spPr>
      </p:sp>
      <p:sp>
        <p:nvSpPr>
          <p:cNvPr id="4" name="Shape 2"/>
          <p:cNvSpPr/>
          <p:nvPr/>
        </p:nvSpPr>
        <p:spPr>
          <a:xfrm>
            <a:off x="411480" y="1005840"/>
            <a:ext cx="2651760" cy="82296"/>
          </a:xfrm>
          <a:prstGeom prst="rect">
            <a:avLst/>
          </a:prstGeom>
          <a:solidFill>
            <a:srgbClr val="D08A2C"/>
          </a:solidFill>
          <a:ln w="12700">
            <a:solidFill>
              <a:srgbClr val="D08A2C"/>
            </a:solidFill>
            <a:prstDash val="solid"/>
          </a:ln>
        </p:spPr>
      </p:sp>
      <p:sp>
        <p:nvSpPr>
          <p:cNvPr id="5" name="Text 3"/>
          <p:cNvSpPr txBox="1"/>
          <p:nvPr/>
        </p:nvSpPr>
        <p:spPr>
          <a:xfrm>
            <a:off x="576072"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Better data was worse.</a:t>
            </a:r>
            <a:endParaRPr lang="en-US" sz="1500" dirty="0"/>
          </a:p>
        </p:txBody>
      </p:sp>
      <p:sp>
        <p:nvSpPr>
          <p:cNvPr id="6" name="Text 4"/>
          <p:cNvSpPr txBox="1"/>
          <p:nvPr/>
        </p:nvSpPr>
        <p:spPr>
          <a:xfrm>
            <a:off x="576072"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SCOOT running on connected-vehicle counts alone, with every car connected, beat SCOOT on its own loops: 26.3 s against 30.4 s of delay. A loop under a crawling queue over-counts; a simple count does not.</a:t>
            </a:r>
            <a:endParaRPr lang="en-US" sz="1150" dirty="0"/>
          </a:p>
        </p:txBody>
      </p:sp>
      <p:sp>
        <p:nvSpPr>
          <p:cNvPr id="7" name="hook 2"/>
          <p:cNvSpPr/>
          <p:nvPr/>
        </p:nvSpPr>
        <p:spPr>
          <a:xfrm>
            <a:off x="3218688" y="1005840"/>
            <a:ext cx="2651760" cy="3566160"/>
          </a:xfrm>
          <a:prstGeom prst="roundRect">
            <a:avLst>
              <a:gd name="adj" fmla="val 2759"/>
            </a:avLst>
          </a:prstGeom>
          <a:solidFill>
            <a:srgbClr val="EEF4F0"/>
          </a:solidFill>
          <a:ln w="12700">
            <a:solidFill>
              <a:srgbClr val="EEF4F0"/>
            </a:solidFill>
            <a:prstDash val="solid"/>
          </a:ln>
        </p:spPr>
      </p:sp>
      <p:sp>
        <p:nvSpPr>
          <p:cNvPr id="8" name="Shape 6"/>
          <p:cNvSpPr/>
          <p:nvPr/>
        </p:nvSpPr>
        <p:spPr>
          <a:xfrm>
            <a:off x="3218688" y="1005840"/>
            <a:ext cx="2651760" cy="82296"/>
          </a:xfrm>
          <a:prstGeom prst="rect">
            <a:avLst/>
          </a:prstGeom>
          <a:solidFill>
            <a:srgbClr val="D08A2C"/>
          </a:solidFill>
          <a:ln w="12700">
            <a:solidFill>
              <a:srgbClr val="D08A2C"/>
            </a:solidFill>
            <a:prstDash val="solid"/>
          </a:ln>
        </p:spPr>
      </p:sp>
      <p:sp>
        <p:nvSpPr>
          <p:cNvPr id="9" name="Text 7"/>
          <p:cNvSpPr txBox="1"/>
          <p:nvPr/>
        </p:nvSpPr>
        <p:spPr>
          <a:xfrm>
            <a:off x="3383280"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The clever agent lost badly.</a:t>
            </a:r>
            <a:endParaRPr lang="en-US" sz="1500" dirty="0"/>
          </a:p>
        </p:txBody>
      </p:sp>
      <p:sp>
        <p:nvSpPr>
          <p:cNvPr id="10" name="Text 8"/>
          <p:cNvSpPr txBox="1"/>
          <p:nvPr/>
        </p:nvSpPr>
        <p:spPr>
          <a:xfrm>
            <a:off x="3383280"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A reinforcement-learning split optimiser averaged 67.7 s of delay on unseen days; plain SCOOT averaged 37.8 s. A negative result, clearly measured, is a real research finding and a starting line.</a:t>
            </a:r>
            <a:endParaRPr lang="en-US" sz="1150" dirty="0"/>
          </a:p>
        </p:txBody>
      </p:sp>
      <p:sp>
        <p:nvSpPr>
          <p:cNvPr id="11" name="hook 3"/>
          <p:cNvSpPr/>
          <p:nvPr/>
        </p:nvSpPr>
        <p:spPr>
          <a:xfrm>
            <a:off x="6025896" y="1005840"/>
            <a:ext cx="2651760" cy="3566160"/>
          </a:xfrm>
          <a:prstGeom prst="roundRect">
            <a:avLst>
              <a:gd name="adj" fmla="val 2759"/>
            </a:avLst>
          </a:prstGeom>
          <a:solidFill>
            <a:srgbClr val="EEF4F0"/>
          </a:solidFill>
          <a:ln w="12700">
            <a:solidFill>
              <a:srgbClr val="EEF4F0"/>
            </a:solidFill>
            <a:prstDash val="solid"/>
          </a:ln>
        </p:spPr>
      </p:sp>
      <p:sp>
        <p:nvSpPr>
          <p:cNvPr id="12" name="Shape 10"/>
          <p:cNvSpPr/>
          <p:nvPr/>
        </p:nvSpPr>
        <p:spPr>
          <a:xfrm>
            <a:off x="6025896" y="1005840"/>
            <a:ext cx="2651760" cy="82296"/>
          </a:xfrm>
          <a:prstGeom prst="rect">
            <a:avLst/>
          </a:prstGeom>
          <a:solidFill>
            <a:srgbClr val="D08A2C"/>
          </a:solidFill>
          <a:ln w="12700">
            <a:solidFill>
              <a:srgbClr val="D08A2C"/>
            </a:solidFill>
            <a:prstDash val="solid"/>
          </a:ln>
        </p:spPr>
      </p:sp>
      <p:sp>
        <p:nvSpPr>
          <p:cNvPr id="13" name="Text 11"/>
          <p:cNvSpPr txBox="1"/>
          <p:nvPr/>
        </p:nvSpPr>
        <p:spPr>
          <a:xfrm>
            <a:off x="6190488"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Old data rescued a broken network.</a:t>
            </a:r>
            <a:endParaRPr lang="en-US" sz="1500" dirty="0"/>
          </a:p>
        </p:txBody>
      </p:sp>
      <p:sp>
        <p:nvSpPr>
          <p:cNvPr id="14" name="Text 12"/>
          <p:cNvSpPr txBox="1"/>
          <p:nvPr/>
        </p:nvSpPr>
        <p:spPr>
          <a:xfrm>
            <a:off x="6190488"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When 13 of 40 detectors failed, trusting their readings more than doubled delay. Swapping in each link's own recorded history recovered about 70% of the loss.</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Words you will meet</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0D5A3A"/>
                          </a:solidFill>
                        </a:rPr>
                        <a:t>Baseline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standard method you compare against: here fixed time, actuation and standard SCOOT.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Seed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number that sets the 'random dice' of a simulation. Different seeds give different but equally likely days.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Ablation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Switching off one part to see how much it was worth.</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Connected vehicle (CV)</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car that reports its position by radio or phone. </a:t>
                      </a:r>
                      <a:pPr indent="0" marL="0">
                        <a:buNone/>
                      </a:pPr>
                      <a:r>
                        <a:rPr lang="en-US" sz="1200" b="1" dirty="0">
                          <a:solidFill>
                            <a:srgbClr val="000000"/>
                          </a:solidFill>
                        </a:rPr>
                        <a:t>Penetration</a:t>
                      </a:r>
                      <a:pPr indent="0" marL="0">
                        <a:buNone/>
                      </a:pPr>
                      <a:r>
                        <a:rPr lang="en-US" sz="1200" dirty="0">
                          <a:solidFill>
                            <a:srgbClr val="000000"/>
                          </a:solidFill>
                        </a:rPr>
                        <a:t> p is the share of cars that do.</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Reinforcement learning (RL)</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program that learns which action to take by trial, error and a score (the reward).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0D5A3A"/>
                          </a:solidFill>
                        </a:rPr>
                        <a:t>Max-pressure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controller that serves the movement with the biggest upstream queue minus downstream queue.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Spill-back</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queue so long it backs into, and blocks, the junction behind it.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ASTRID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SCOOT's database of past link data, used here as a substitute for broken detectors.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GLOSA</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Green Light Optimal Speed Advisory: telling a driver what speed will reach the light on green.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The map of today's ideas</a:t>
            </a:r>
            <a:endParaRPr lang="en-US" sz="2400" dirty="0"/>
          </a:p>
        </p:txBody>
      </p:sp>
      <p:pic>
        <p:nvPicPr>
          <p:cNvPr id="3" name="Image 0" descr="Concept map linking the ideas of this level">    </p:cNvPr>
          <p:cNvPicPr>
            <a:picLocks noChangeAspect="1"/>
          </p:cNvPicPr>
          <p:nvPr/>
        </p:nvPicPr>
        <p:blipFill>
          <a:blip r:embed="rId1"/>
          <a:stretch>
            <a:fillRect/>
          </a:stretch>
        </p:blipFill>
        <p:spPr>
          <a:xfrm>
            <a:off x="1429966" y="868680"/>
            <a:ext cx="6284068" cy="3886200"/>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B3954"/>
                </a:solidFill>
              </a:rPr>
              <a:t>1  </a:t>
            </a:r>
            <a:pPr indent="0" marL="0">
              <a:buNone/>
            </a:pPr>
            <a:r>
              <a:rPr lang="en-US" sz="2400" b="1" dirty="0">
                <a:solidFill>
                  <a:schemeClr val="tx2"/>
                </a:solidFill>
              </a:rPr>
              <a:t>How to evaluate a new SCOOT idea</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Testing a new fertiliser? Grow two identical plants in the same soil and light, change only the fertiliser, and repeat with several pairs. One lucky plant proves nothing.</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Change one thing only</a:t>
            </a:r>
            <a:endParaRPr lang="en-US" sz="1600" dirty="0"/>
          </a:p>
          <a:p>
            <a:pPr marL="342900" indent="-342900">
              <a:spcAft>
                <a:spcPts val="800"/>
              </a:spcAft>
              <a:buSzPct val="100000"/>
              <a:buChar char="•"/>
            </a:pPr>
            <a:r>
              <a:rPr lang="en-US" sz="1600" dirty="0">
                <a:solidFill>
                  <a:schemeClr val="tx1"/>
                </a:solidFill>
              </a:rPr>
              <a:t>Same demand, same seeds for all</a:t>
            </a:r>
            <a:endParaRPr lang="en-US" sz="1600" dirty="0"/>
          </a:p>
          <a:p>
            <a:pPr marL="342900" indent="-342900">
              <a:spcAft>
                <a:spcPts val="800"/>
              </a:spcAft>
              <a:buSzPct val="100000"/>
              <a:buChar char="•"/>
            </a:pPr>
            <a:r>
              <a:rPr lang="en-US" sz="1600" dirty="0">
                <a:solidFill>
                  <a:schemeClr val="tx1"/>
                </a:solidFill>
              </a:rPr>
              <a:t>Several seeds: report the spread</a:t>
            </a:r>
            <a:endParaRPr lang="en-US" sz="1600" dirty="0"/>
          </a:p>
          <a:p>
            <a:pPr marL="342900" indent="-342900">
              <a:spcAft>
                <a:spcPts val="800"/>
              </a:spcAft>
              <a:buSzPct val="100000"/>
              <a:buChar char="•"/>
            </a:pPr>
            <a:r>
              <a:rPr lang="en-US" sz="1600" dirty="0">
                <a:solidFill>
                  <a:schemeClr val="tx1"/>
                </a:solidFill>
              </a:rPr>
              <a:t>Count every second, many measures</a:t>
            </a:r>
            <a:endParaRPr lang="en-US" sz="1600" dirty="0"/>
          </a:p>
        </p:txBody>
      </p:sp>
      <p:sp>
        <p:nvSpPr>
          <p:cNvPr id="7" name="stat card"/>
          <p:cNvSpPr/>
          <p:nvPr/>
        </p:nvSpPr>
        <p:spPr>
          <a:xfrm>
            <a:off x="5806440" y="2240280"/>
            <a:ext cx="2926080" cy="2377440"/>
          </a:xfrm>
          <a:prstGeom prst="roundRect">
            <a:avLst>
              <a:gd name="adj" fmla="val 3077"/>
            </a:avLst>
          </a:prstGeom>
          <a:solidFill>
            <a:srgbClr val="0B3954"/>
          </a:solidFill>
          <a:ln w="12700">
            <a:solidFill>
              <a:srgbClr val="0B3954"/>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9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spread of SCOOT's delay across three seeds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Is the difference bigger than the day-to-day spread?</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4F0"/>
          </a:solidFill>
          <a:ln w="12700">
            <a:solidFill>
              <a:srgbClr val="EEF4F0"/>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difference = new method − baseline,  on the same seed</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Standard SCOOT on three seeds: 33.1, 38.2, 42.1 s delay. The RL agent on the same seeds: 72.4, 60.8, 69.9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SCOOT mean: (33.1 + 38.2 + 42.1) ÷ 3 = 113.4 ÷ 3 = </a:t>
            </a:r>
            <a:pPr indent="0" marL="0">
              <a:buNone/>
            </a:pPr>
            <a:r>
              <a:rPr lang="en-US" sz="1150" b="1" dirty="0">
                <a:solidFill>
                  <a:srgbClr val="000000"/>
                </a:solidFill>
              </a:rPr>
              <a:t>37.8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SCOOT spread between days: 42.1 − 33.1 = </a:t>
            </a:r>
            <a:pPr indent="0" marL="0">
              <a:buNone/>
            </a:pPr>
            <a:r>
              <a:rPr lang="en-US" sz="1150" b="1" dirty="0">
                <a:solidFill>
                  <a:srgbClr val="000000"/>
                </a:solidFill>
              </a:rPr>
              <a:t>9.0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Paired differences, RL − SCOOT: 72.4 − 33.1 = 39.3; 60.8 − 38.2 = 22.6; 69.9 − 42.1 = 27.8 s.</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All three are positive and each is bigger than the 9 s spread.</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Mean difference: (39.3 + 22.6 + 27.8) ÷ 3 = </a:t>
            </a:r>
            <a:pPr indent="0" marL="0">
              <a:buNone/>
            </a:pPr>
            <a:r>
              <a:rPr lang="en-US" sz="1150" b="1" dirty="0">
                <a:solidFill>
                  <a:srgbClr val="000000"/>
                </a:solidFill>
              </a:rPr>
              <a:t>29.9 s</a:t>
            </a:r>
            <a:pPr indent="0" marL="0">
              <a:buNone/>
            </a:pPr>
            <a:r>
              <a:rPr lang="en-US" sz="1150" dirty="0">
                <a:solidFill>
                  <a:srgbClr val="000000"/>
                </a:solidFill>
              </a:rPr>
              <a:t> worse.</a:t>
            </a:r>
            <a:endParaRPr lang="en-US" sz="1100" dirty="0"/>
          </a:p>
          <a:p>
            <a:pPr indent="0" marL="0">
              <a:buNone/>
            </a:pPr>
            <a:r>
              <a:rPr lang="en-US" sz="1150" b="1" dirty="0">
                <a:solidFill>
                  <a:schemeClr val="tx2"/>
                </a:solidFill>
              </a:rPr>
              <a:t>The RL agent is clearly worse, on every day. A 2 s 'improvement' from a single seed would have been inside the 9 s spread and meant nothing.</a:t>
            </a:r>
            <a:endParaRPr lang="en-US" sz="1100" dirty="0"/>
          </a:p>
        </p:txBody>
      </p:sp>
      <p:pic>
        <p:nvPicPr>
          <p:cNvPr id="6" name="Image 0" descr="A fair study, step by step.">    </p:cNvPr>
          <p:cNvPicPr>
            <a:picLocks noChangeAspect="1"/>
          </p:cNvPicPr>
          <p:nvPr/>
        </p:nvPicPr>
        <p:blipFill>
          <a:blip r:embed="rId1"/>
          <a:stretch>
            <a:fillRect/>
          </a:stretch>
        </p:blipFill>
        <p:spPr>
          <a:xfrm>
            <a:off x="4709160" y="1994352"/>
            <a:ext cx="4023360" cy="2073769"/>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Fair testing</a:t>
            </a:r>
            <a:endParaRPr lang="en-US" sz="2400" dirty="0"/>
          </a:p>
        </p:txBody>
      </p:sp>
      <p:pic>
        <p:nvPicPr>
          <p:cNvPr id="3" name="Image 0" descr="Mind map of How to evaluate a new SCOOT idea">    </p:cNvPr>
          <p:cNvPicPr>
            <a:picLocks noChangeAspect="1"/>
          </p:cNvPicPr>
          <p:nvPr/>
        </p:nvPicPr>
        <p:blipFill>
          <a:blip r:embed="rId1"/>
          <a:stretch>
            <a:fillRect/>
          </a:stretch>
        </p:blipFill>
        <p:spPr>
          <a:xfrm>
            <a:off x="411480" y="1147324"/>
            <a:ext cx="8321040" cy="1682991"/>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1: TWIN-PLANT ENTRANCE STAND</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entrance a judge in a white coat holds two identical potted plants, each with three seeds glued on the pot. She changes the label on ONE pot only, then weighs both on a huge brass scale while a vacuum cleaner under the table refuses to suck any queue off the stage.</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report your best seed. If the improvement is smaller than the difference between seeds, you have not shown anything yet: run more seeds.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4505A"/>
                </a:solidFill>
              </a:rPr>
              <a:t>2  </a:t>
            </a:r>
            <a:pPr indent="0" marL="0">
              <a:buNone/>
            </a:pPr>
            <a:r>
              <a:rPr lang="en-US" sz="2400" b="1" dirty="0">
                <a:solidFill>
                  <a:schemeClr val="tx2"/>
                </a:solidFill>
              </a:rPr>
              <a:t>SCOOT on connected-vehicle data</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pollster asks 1 in 4 voters and multiplies by 4. Ask enough people and the guess is good; ask 1 in 20 and a few odd answers swing the result wildly.</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Virtual detector: count CVs, divide by p</a:t>
            </a:r>
            <a:endParaRPr lang="en-US" sz="1600" dirty="0"/>
          </a:p>
          <a:p>
            <a:pPr marL="342900" indent="-342900">
              <a:spcAft>
                <a:spcPts val="800"/>
              </a:spcAft>
              <a:buSzPct val="100000"/>
              <a:buChar char="•"/>
            </a:pPr>
            <a:r>
              <a:rPr lang="en-US" sz="1600" dirty="0">
                <a:solidFill>
                  <a:schemeClr val="tx1"/>
                </a:solidFill>
              </a:rPr>
              <a:t>Noisy at low penetration</a:t>
            </a:r>
            <a:endParaRPr lang="en-US" sz="1600" dirty="0"/>
          </a:p>
          <a:p>
            <a:pPr marL="342900" indent="-342900">
              <a:spcAft>
                <a:spcPts val="800"/>
              </a:spcAft>
              <a:buSzPct val="100000"/>
              <a:buChar char="•"/>
            </a:pPr>
            <a:r>
              <a:rPr lang="en-US" sz="1600" dirty="0">
                <a:solidFill>
                  <a:schemeClr val="tx1"/>
                </a:solidFill>
              </a:rPr>
              <a:t>25% connected: 33.9 s vs loops 30.4</a:t>
            </a:r>
            <a:endParaRPr lang="en-US" sz="1600" dirty="0"/>
          </a:p>
          <a:p>
            <a:pPr marL="342900" indent="-342900">
              <a:spcAft>
                <a:spcPts val="800"/>
              </a:spcAft>
              <a:buSzPct val="100000"/>
              <a:buChar char="•"/>
            </a:pPr>
            <a:r>
              <a:rPr lang="en-US" sz="1600" dirty="0">
                <a:solidFill>
                  <a:schemeClr val="tx1"/>
                </a:solidFill>
              </a:rPr>
              <a:t>50-100% beat loops: no occupancy inflation</a:t>
            </a:r>
            <a:endParaRPr lang="en-US" sz="1600" dirty="0"/>
          </a:p>
        </p:txBody>
      </p:sp>
      <p:sp>
        <p:nvSpPr>
          <p:cNvPr id="7" name="stat card"/>
          <p:cNvSpPr/>
          <p:nvPr/>
        </p:nvSpPr>
        <p:spPr>
          <a:xfrm>
            <a:off x="5806440" y="2240280"/>
            <a:ext cx="2926080" cy="2377440"/>
          </a:xfrm>
          <a:prstGeom prst="roundRect">
            <a:avLst>
              <a:gd name="adj" fmla="val 3077"/>
            </a:avLst>
          </a:prstGeom>
          <a:solidFill>
            <a:srgbClr val="04505A"/>
          </a:solidFill>
          <a:ln w="12700">
            <a:solidFill>
              <a:srgbClr val="0450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33.9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delay with 25% connected cars (loops: 30.4 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How noisy is one cycle's estimate?</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LPU</a:t>
            </a:r>
            <a:pPr algn="ctr" indent="0" marL="0">
              <a:buNone/>
            </a:pPr>
            <a:r>
              <a:rPr lang="en-US" sz="1350" baseline="-40000" dirty="0">
                <a:solidFill>
                  <a:schemeClr val="tx2"/>
                </a:solidFill>
                <a:latin typeface="Cambria" pitchFamily="34" charset="0"/>
                <a:ea typeface="Cambria" pitchFamily="34" charset="-122"/>
                <a:cs typeface="Cambria" pitchFamily="34" charset="-120"/>
              </a:rPr>
              <a:t>est</a:t>
            </a:r>
            <a:pPr algn="ctr" indent="0" marL="0">
              <a:buNone/>
            </a:pPr>
            <a:r>
              <a:rPr lang="en-US" sz="1350" dirty="0">
                <a:solidFill>
                  <a:schemeClr val="tx2"/>
                </a:solidFill>
                <a:latin typeface="Cambria" pitchFamily="34" charset="0"/>
                <a:ea typeface="Cambria" pitchFamily="34" charset="-122"/>
                <a:cs typeface="Cambria" pitchFamily="34" charset="-120"/>
              </a:rPr>
              <a:t> = (connected vehicles crossing) ÷ p × LPU per vehicle</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spread of the estimate ≈ √(N p (1 − p)) ÷ p</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20 vehicles cross per cycle. Penetration p = 25%.</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Expected connected cars: 20 × 0.25 = </a:t>
            </a:r>
            <a:pPr indent="0" marL="0">
              <a:buNone/>
            </a:pPr>
            <a:r>
              <a:rPr lang="en-US" sz="1150" b="1" dirty="0">
                <a:solidFill>
                  <a:srgbClr val="000000"/>
                </a:solidFill>
              </a:rPr>
              <a:t>5</a:t>
            </a:r>
            <a:pPr indent="0" marL="0">
              <a:buNone/>
            </a:pPr>
            <a:r>
              <a:rPr lang="en-US" sz="1150" dirty="0">
                <a:solidFill>
                  <a:srgbClr val="000000"/>
                </a:solidFill>
              </a:rPr>
              <a:t>; estimate 5 ÷ 0.25 = 20. Correct on average.</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Spread of the CV count: √(20 × 0.25 × 0.75) = √3.75 = </a:t>
            </a:r>
            <a:pPr indent="0" marL="0">
              <a:buNone/>
            </a:pPr>
            <a:r>
              <a:rPr lang="en-US" sz="1150" b="1" dirty="0">
                <a:solidFill>
                  <a:srgbClr val="000000"/>
                </a:solidFill>
              </a:rPr>
              <a:t>1.94</a:t>
            </a:r>
            <a:pPr indent="0" marL="0">
              <a:buNone/>
            </a:pPr>
            <a:r>
              <a:rPr lang="en-US" sz="1150" dirty="0">
                <a:solidFill>
                  <a:srgbClr val="000000"/>
                </a:solidFill>
              </a:rPr>
              <a:t> cars.</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Spread of the estimate: 1.94 ÷ 0.25 = </a:t>
            </a:r>
            <a:pPr indent="0" marL="0">
              <a:buNone/>
            </a:pPr>
            <a:r>
              <a:rPr lang="en-US" sz="1150" b="1" dirty="0">
                <a:solidFill>
                  <a:srgbClr val="000000"/>
                </a:solidFill>
              </a:rPr>
              <a:t>7.7</a:t>
            </a:r>
            <a:pPr indent="0" marL="0">
              <a:buNone/>
            </a:pPr>
            <a:r>
              <a:rPr lang="en-US" sz="1150" dirty="0">
                <a:solidFill>
                  <a:srgbClr val="000000"/>
                </a:solidFill>
              </a:rPr>
              <a:t> vehicles, about 39% of 20.</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At p = 5%: √(20 × 0.05 × 0.95) ÷ 0.05 = 0.97 ÷ 0.05 = </a:t>
            </a:r>
            <a:pPr indent="0" marL="0">
              <a:buNone/>
            </a:pPr>
            <a:r>
              <a:rPr lang="en-US" sz="1150" b="1" dirty="0">
                <a:solidFill>
                  <a:srgbClr val="000000"/>
                </a:solidFill>
              </a:rPr>
              <a:t>19.5</a:t>
            </a:r>
            <a:pPr indent="0" marL="0">
              <a:buNone/>
            </a:pPr>
            <a:r>
              <a:rPr lang="en-US" sz="1150" dirty="0">
                <a:solidFill>
                  <a:srgbClr val="000000"/>
                </a:solidFill>
              </a:rPr>
              <a:t>, about 97%.</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Chance a cycle sees no CV at 5%: 0.95</a:t>
            </a:r>
            <a:pPr indent="0" marL="0">
              <a:buNone/>
            </a:pPr>
            <a:r>
              <a:rPr lang="en-US" sz="1150" baseline="30000" dirty="0">
                <a:solidFill>
                  <a:srgbClr val="000000"/>
                </a:solidFill>
              </a:rPr>
              <a:t>20</a:t>
            </a:r>
            <a:pPr indent="0" marL="0">
              <a:buNone/>
            </a:pPr>
            <a:r>
              <a:rPr lang="en-US" sz="1150" dirty="0">
                <a:solidFill>
                  <a:srgbClr val="000000"/>
                </a:solidFill>
              </a:rPr>
              <a:t> = </a:t>
            </a:r>
            <a:pPr indent="0" marL="0">
              <a:buNone/>
            </a:pPr>
            <a:r>
              <a:rPr lang="en-US" sz="1150" b="1" dirty="0">
                <a:solidFill>
                  <a:srgbClr val="000000"/>
                </a:solidFill>
              </a:rPr>
              <a:t>0.36</a:t>
            </a:r>
            <a:pPr indent="0" marL="0">
              <a:buNone/>
            </a:pPr>
            <a:r>
              <a:rPr lang="en-US" sz="1150" dirty="0">
                <a:solidFill>
                  <a:srgbClr val="000000"/>
                </a:solidFill>
              </a:rPr>
              <a:t>.</a:t>
            </a:r>
            <a:endParaRPr lang="en-US" sz="1100" dirty="0"/>
          </a:p>
          <a:p>
            <a:pPr indent="0" marL="0">
              <a:buNone/>
            </a:pPr>
            <a:r>
              <a:rPr lang="en-US" sz="1150" b="1" dirty="0">
                <a:solidFill>
                  <a:schemeClr val="tx2"/>
                </a:solidFill>
              </a:rPr>
              <a:t>At 5% a third of cycles see no connected car at all. At 25% one cycle is rough, but smoothing over several cycles brings the error down.</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CV instead of loops</a:t>
            </a:r>
            <a:endParaRPr lang="en-US" sz="2400" dirty="0"/>
          </a:p>
        </p:txBody>
      </p:sp>
      <p:pic>
        <p:nvPicPr>
          <p:cNvPr id="3" name="Image 0" descr="Mind map of SCOOT on connected-vehicle data">    </p:cNvPr>
          <p:cNvPicPr>
            <a:picLocks noChangeAspect="1"/>
          </p:cNvPicPr>
          <p:nvPr/>
        </p:nvPicPr>
        <p:blipFill>
          <a:blip r:embed="rId1"/>
          <a:stretch>
            <a:fillRect/>
          </a:stretch>
        </p:blipFill>
        <p:spPr>
          <a:xfrm>
            <a:off x="411480" y="1176657"/>
            <a:ext cx="8321040" cy="1624325"/>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2: GLOWING-PHONE CROWD</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second stand a crowd walks past a chalk line. Only one in four people carries a glowing phone. A bouncer counts the glowing phones and shouts the number times four through a megaphone. When only one person in twenty glows, his guesses jump wildly and he falls off his stool.</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big open-loop error does not mean bad control. SCOOT smooths and keeps adjusting, so 53% error per minute still gave delay within 11% of loops. Always test in closed loop too.</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2F5A1C"/>
                </a:solidFill>
              </a:rPr>
              <a:t>3  </a:t>
            </a:r>
            <a:pPr indent="0" marL="0">
              <a:buNone/>
            </a:pPr>
            <a:r>
              <a:rPr lang="en-US" sz="2400" b="1" dirty="0">
                <a:solidFill>
                  <a:schemeClr val="tx2"/>
                </a:solidFill>
              </a:rPr>
              <a:t>A learning split optimiser</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Teaching a puppy: it tries something, gets a treat or not, and slowly learns. With a clear signal and many tries it learns tricks. With confusing treats and only ten lessons, it just gets excited and knocks things over.</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Learn only the split choice</a:t>
            </a:r>
            <a:endParaRPr lang="en-US" sz="1600" dirty="0"/>
          </a:p>
          <a:p>
            <a:pPr marL="342900" indent="-342900">
              <a:spcAft>
                <a:spcPts val="800"/>
              </a:spcAft>
              <a:buSzPct val="100000"/>
              <a:buChar char="•"/>
            </a:pPr>
            <a:r>
              <a:rPr lang="en-US" sz="1600" dirty="0">
                <a:solidFill>
                  <a:schemeClr val="tx1"/>
                </a:solidFill>
              </a:rPr>
              <a:t>Action: −4, 0 or +4 seconds</a:t>
            </a:r>
            <a:endParaRPr lang="en-US" sz="1600" dirty="0"/>
          </a:p>
          <a:p>
            <a:pPr marL="342900" indent="-342900">
              <a:spcAft>
                <a:spcPts val="800"/>
              </a:spcAft>
              <a:buSzPct val="100000"/>
              <a:buChar char="•"/>
            </a:pPr>
            <a:r>
              <a:rPr lang="en-US" sz="1600" dirty="0">
                <a:solidFill>
                  <a:schemeClr val="tx1"/>
                </a:solidFill>
              </a:rPr>
              <a:t>Reward: minus the queue change</a:t>
            </a:r>
            <a:endParaRPr lang="en-US" sz="1600" dirty="0"/>
          </a:p>
          <a:p>
            <a:pPr marL="342900" indent="-342900">
              <a:spcAft>
                <a:spcPts val="800"/>
              </a:spcAft>
              <a:buSzPct val="100000"/>
              <a:buChar char="•"/>
            </a:pPr>
            <a:r>
              <a:rPr lang="en-US" sz="1600" dirty="0">
                <a:solidFill>
                  <a:schemeClr val="tx1"/>
                </a:solidFill>
              </a:rPr>
              <a:t>First agent lost: 67.7 vs 37.8 s</a:t>
            </a:r>
            <a:endParaRPr lang="en-US" sz="1600" dirty="0"/>
          </a:p>
        </p:txBody>
      </p:sp>
      <p:sp>
        <p:nvSpPr>
          <p:cNvPr id="7" name="stat card"/>
          <p:cNvSpPr/>
          <p:nvPr/>
        </p:nvSpPr>
        <p:spPr>
          <a:xfrm>
            <a:off x="5806440" y="2240280"/>
            <a:ext cx="2926080" cy="2377440"/>
          </a:xfrm>
          <a:prstGeom prst="roundRect">
            <a:avLst>
              <a:gd name="adj" fmla="val 3077"/>
            </a:avLst>
          </a:prstGeom>
          <a:solidFill>
            <a:srgbClr val="2F5A1C"/>
          </a:solidFill>
          <a:ln w="12700">
            <a:solidFill>
              <a:srgbClr val="2F5A1C"/>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67.7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RL agent delay on unseen days (SCOOT 37.8 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One Q-learning update</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4F0"/>
          </a:solidFill>
          <a:ln w="12700">
            <a:solidFill>
              <a:srgbClr val="EEF4F0"/>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Q(s, a) ← Q(s, a) + α [ r + γ max</a:t>
            </a:r>
            <a:pPr algn="ctr" indent="0" marL="0">
              <a:buNone/>
            </a:pPr>
            <a:r>
              <a:rPr lang="en-US" sz="1350" baseline="-40000" dirty="0">
                <a:solidFill>
                  <a:schemeClr val="tx2"/>
                </a:solidFill>
                <a:latin typeface="Cambria" pitchFamily="34" charset="0"/>
                <a:ea typeface="Cambria" pitchFamily="34" charset="-122"/>
                <a:cs typeface="Cambria" pitchFamily="34" charset="-120"/>
              </a:rPr>
              <a:t>a′</a:t>
            </a:r>
            <a:pPr algn="ctr" indent="0" marL="0">
              <a:buNone/>
            </a:pPr>
            <a:r>
              <a:rPr lang="en-US" sz="1350" dirty="0">
                <a:solidFill>
                  <a:schemeClr val="tx2"/>
                </a:solidFill>
                <a:latin typeface="Cambria" pitchFamily="34" charset="0"/>
                <a:ea typeface="Cambria" pitchFamily="34" charset="-122"/>
                <a:cs typeface="Cambria" pitchFamily="34" charset="-120"/>
              </a:rPr>
              <a:t> Q(s′, a′) − Q(s, a) ]</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Q(s, +4) = −2.0. The agent takes +4, the queue grows by 1 LPU, so r = −1. In the next state the best Q value is −3.0. α = 0.5, γ = 0.9.</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Target: r + γ × best next = −1 + 0.9 × (−3.0) = −1 − 2.7 = </a:t>
            </a:r>
            <a:pPr indent="0" marL="0">
              <a:buNone/>
            </a:pPr>
            <a:r>
              <a:rPr lang="en-US" sz="1150" b="1" dirty="0">
                <a:solidFill>
                  <a:srgbClr val="000000"/>
                </a:solidFill>
              </a:rPr>
              <a:t>−3.7</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Error: target − old = −3.7 − (−2.0) = </a:t>
            </a:r>
            <a:pPr indent="0" marL="0">
              <a:buNone/>
            </a:pPr>
            <a:r>
              <a:rPr lang="en-US" sz="1150" b="1" dirty="0">
                <a:solidFill>
                  <a:srgbClr val="000000"/>
                </a:solidFill>
              </a:rPr>
              <a:t>−1.7</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Update: −2.0 + 0.5 × (−1.7) = −2.0 − 0.85 = </a:t>
            </a:r>
            <a:pPr indent="0" marL="0">
              <a:buNone/>
            </a:pPr>
            <a:r>
              <a:rPr lang="en-US" sz="1150" b="1" dirty="0">
                <a:solidFill>
                  <a:srgbClr val="000000"/>
                </a:solidFill>
              </a:rPr>
              <a:t>−2.85</a:t>
            </a:r>
            <a:pPr indent="0" marL="0">
              <a:buNone/>
            </a:pPr>
            <a:r>
              <a:rPr lang="en-US" sz="1150" dirty="0">
                <a:solidFill>
                  <a:srgbClr val="000000"/>
                </a:solidFill>
              </a:rPr>
              <a:t>.</a:t>
            </a:r>
            <a:endParaRPr lang="en-US" sz="1100" dirty="0"/>
          </a:p>
          <a:p>
            <a:pPr indent="0" marL="0">
              <a:buNone/>
            </a:pPr>
            <a:r>
              <a:rPr lang="en-US" sz="1150" b="1" dirty="0">
                <a:solidFill>
                  <a:schemeClr val="tx2"/>
                </a:solidFill>
              </a:rPr>
              <a:t>The action +4 now looks worse in that state (−2.85), so the agent will try it less. Thousands of such updates are needed; our training had far too few.</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Learning splits (RL)</a:t>
            </a:r>
            <a:endParaRPr lang="en-US" sz="2400" dirty="0"/>
          </a:p>
        </p:txBody>
      </p:sp>
      <p:pic>
        <p:nvPicPr>
          <p:cNvPr id="3" name="Image 0" descr="Mind map of A learning split optimiser">    </p:cNvPr>
          <p:cNvPicPr>
            <a:picLocks noChangeAspect="1"/>
          </p:cNvPicPr>
          <p:nvPr/>
        </p:nvPicPr>
        <p:blipFill>
          <a:blip r:embed="rId1"/>
          <a:stretch>
            <a:fillRect/>
          </a:stretch>
        </p:blipFill>
        <p:spPr>
          <a:xfrm>
            <a:off x="411480" y="1116453"/>
            <a:ext cx="8321040" cy="1744734"/>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3: ROBOT-PUPPY STAND</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clockwork robot puppy has three bones labelled −4, 0 and +4. It grabs a bone, gets a treat or a buzz, and after only ten lessons it is spinning in circles, knocking over a sign reading 67.7, while an old sheepdog calmly herds traffic under a sign reading 37.8.</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learning agent is not automatically better than a rule. Without enough state information, a reliable reward and enough training, it can be much worse, and its failures are harder to explain.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8F3520"/>
                </a:solidFill>
              </a:rPr>
              <a:t>4  </a:t>
            </a:r>
            <a:pPr indent="0" marL="0">
              <a:buNone/>
            </a:pPr>
            <a:r>
              <a:rPr lang="en-US" sz="2400" b="1" dirty="0">
                <a:solidFill>
                  <a:schemeClr val="tx2"/>
                </a:solidFill>
              </a:rPr>
              <a:t>Max-pressure and spill-back-aware SCOOT</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doorman letting people into a room looks at the queue outside. A smarter one also checks whether the room is full: if it is, letting more in only jams the doorway.</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Max-pressure: upstream minus downstream</a:t>
            </a:r>
            <a:endParaRPr lang="en-US" sz="1600" dirty="0"/>
          </a:p>
          <a:p>
            <a:pPr marL="342900" indent="-342900">
              <a:spcAft>
                <a:spcPts val="800"/>
              </a:spcAft>
              <a:buSzPct val="100000"/>
              <a:buChar char="•"/>
            </a:pPr>
            <a:r>
              <a:rPr lang="en-US" sz="1600" dirty="0">
                <a:solidFill>
                  <a:schemeClr val="tx1"/>
                </a:solidFill>
              </a:rPr>
              <a:t>No cycle, so no green waves</a:t>
            </a:r>
            <a:endParaRPr lang="en-US" sz="1600" dirty="0"/>
          </a:p>
          <a:p>
            <a:pPr marL="342900" indent="-342900">
              <a:spcAft>
                <a:spcPts val="800"/>
              </a:spcAft>
              <a:buSzPct val="100000"/>
              <a:buChar char="•"/>
            </a:pPr>
            <a:r>
              <a:rPr lang="en-US" sz="1600" dirty="0">
                <a:solidFill>
                  <a:schemeClr val="tx1"/>
                </a:solidFill>
              </a:rPr>
              <a:t>Exit-aware SCOOT: discount blocked exits</a:t>
            </a:r>
            <a:endParaRPr lang="en-US" sz="1600" dirty="0"/>
          </a:p>
          <a:p>
            <a:pPr marL="342900" indent="-342900">
              <a:spcAft>
                <a:spcPts val="800"/>
              </a:spcAft>
              <a:buSzPct val="100000"/>
              <a:buChar char="•"/>
            </a:pPr>
            <a:r>
              <a:rPr lang="en-US" sz="1600" dirty="0">
                <a:solidFill>
                  <a:schemeClr val="tx1"/>
                </a:solidFill>
              </a:rPr>
              <a:t>Here SCOOT already kept exits clear</a:t>
            </a:r>
            <a:endParaRPr lang="en-US" sz="1600" dirty="0"/>
          </a:p>
        </p:txBody>
      </p:sp>
      <p:sp>
        <p:nvSpPr>
          <p:cNvPr id="7" name="stat card"/>
          <p:cNvSpPr/>
          <p:nvPr/>
        </p:nvSpPr>
        <p:spPr>
          <a:xfrm>
            <a:off x="5806440" y="2240280"/>
            <a:ext cx="2926080" cy="2377440"/>
          </a:xfrm>
          <a:prstGeom prst="roundRect">
            <a:avLst>
              <a:gd name="adj" fmla="val 3077"/>
            </a:avLst>
          </a:prstGeom>
          <a:solidFill>
            <a:srgbClr val="8F3520"/>
          </a:solidFill>
          <a:ln w="12700">
            <a:solidFill>
              <a:srgbClr val="8F3520"/>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224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max-pressure delay on 120 m links (SCOOT 28.7 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Should stage A get more green?</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blocking = max(0, (q</a:t>
            </a:r>
            <a:pPr algn="ctr" indent="0" marL="0">
              <a:buNone/>
            </a:pPr>
            <a:r>
              <a:rPr lang="en-US" sz="1350" baseline="-40000" dirty="0">
                <a:solidFill>
                  <a:schemeClr val="tx2"/>
                </a:solidFill>
                <a:latin typeface="Cambria" pitchFamily="34" charset="0"/>
                <a:ea typeface="Cambria" pitchFamily="34" charset="-122"/>
                <a:cs typeface="Cambria" pitchFamily="34" charset="-120"/>
              </a:rPr>
              <a:t>down</a:t>
            </a:r>
            <a:pPr algn="ctr" indent="0" marL="0">
              <a:buNone/>
            </a:pPr>
            <a:r>
              <a:rPr lang="en-US" sz="1350" dirty="0">
                <a:solidFill>
                  <a:schemeClr val="tx2"/>
                </a:solidFill>
                <a:latin typeface="Cambria" pitchFamily="34" charset="0"/>
                <a:ea typeface="Cambria" pitchFamily="34" charset="-122"/>
                <a:cs typeface="Cambria" pitchFamily="34" charset="-120"/>
              </a:rPr>
              <a:t> ÷ storage − 0.3) ÷ 0.7)</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score = DoS ÷ (1 + λ × blocking),   λ = 2</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DoS stage A = 0.95, stage B = 0.80. A's exit link stores 40 vehicles and holds 26. B's exit is empty. λ = 2.</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A's exit fill: 26 ÷ 40 = </a:t>
            </a:r>
            <a:pPr indent="0" marL="0">
              <a:buNone/>
            </a:pPr>
            <a:r>
              <a:rPr lang="en-US" sz="1150" b="1" dirty="0">
                <a:solidFill>
                  <a:srgbClr val="000000"/>
                </a:solidFill>
              </a:rPr>
              <a:t>0.65</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Blocking A: (0.65 − 0.3) ÷ 0.7 = 0.35 ÷ 0.7 = </a:t>
            </a:r>
            <a:pPr indent="0" marL="0">
              <a:buNone/>
            </a:pPr>
            <a:r>
              <a:rPr lang="en-US" sz="1150" b="1" dirty="0">
                <a:solidFill>
                  <a:srgbClr val="000000"/>
                </a:solidFill>
              </a:rPr>
              <a:t>0.5</a:t>
            </a:r>
            <a:pPr indent="0" marL="0">
              <a:buNone/>
            </a:pPr>
            <a:r>
              <a:rPr lang="en-US" sz="1150" dirty="0">
                <a:solidFill>
                  <a:srgbClr val="000000"/>
                </a:solidFill>
              </a:rPr>
              <a:t>. Blocking B: </a:t>
            </a:r>
            <a:pPr indent="0" marL="0">
              <a:buNone/>
            </a:pPr>
            <a:r>
              <a:rPr lang="en-US" sz="1150" b="1" dirty="0">
                <a:solidFill>
                  <a:srgbClr val="000000"/>
                </a:solidFill>
              </a:rPr>
              <a:t>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Score A: 0.95 ÷ (1 + 2 × 0.5) = 0.95 ÷ 2 = </a:t>
            </a:r>
            <a:pPr indent="0" marL="0">
              <a:buNone/>
            </a:pPr>
            <a:r>
              <a:rPr lang="en-US" sz="1150" b="1" dirty="0">
                <a:solidFill>
                  <a:srgbClr val="000000"/>
                </a:solidFill>
              </a:rPr>
              <a:t>0.475</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Score B: 0.80 ÷ (1 + 0) = </a:t>
            </a:r>
            <a:pPr indent="0" marL="0">
              <a:buNone/>
            </a:pPr>
            <a:r>
              <a:rPr lang="en-US" sz="1150" b="1" dirty="0">
                <a:solidFill>
                  <a:srgbClr val="000000"/>
                </a:solidFill>
              </a:rPr>
              <a:t>0.80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Plain DoS says A (0.95 &gt; 0.80); exit-aware says </a:t>
            </a:r>
            <a:pPr indent="0" marL="0">
              <a:buNone/>
            </a:pPr>
            <a:r>
              <a:rPr lang="en-US" sz="1150" b="1" dirty="0">
                <a:solidFill>
                  <a:srgbClr val="000000"/>
                </a:solidFill>
              </a:rPr>
              <a:t>B</a:t>
            </a:r>
            <a:pPr indent="0" marL="0">
              <a:buNone/>
            </a:pPr>
            <a:r>
              <a:rPr lang="en-US" sz="1150" dirty="0">
                <a:solidFill>
                  <a:srgbClr val="000000"/>
                </a:solidFill>
              </a:rPr>
              <a:t> (0.80 &gt; 0.475).</a:t>
            </a:r>
            <a:endParaRPr lang="en-US" sz="1100" dirty="0"/>
          </a:p>
          <a:p>
            <a:pPr indent="0" marL="0">
              <a:buNone/>
            </a:pPr>
            <a:r>
              <a:rPr lang="en-US" sz="1150" b="1" dirty="0">
                <a:solidFill>
                  <a:schemeClr val="tx2"/>
                </a:solidFill>
              </a:rPr>
              <a:t>Extra green for A would mostly push cars into a filling exit, so the exit-aware rule gives the time to B.</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Max-pressure</a:t>
            </a:r>
            <a:endParaRPr lang="en-US" sz="2400" dirty="0"/>
          </a:p>
        </p:txBody>
      </p:sp>
      <p:pic>
        <p:nvPicPr>
          <p:cNvPr id="3" name="Image 0" descr="Mind map of Max-pressure and spill-back-aware SCOOT">    </p:cNvPr>
          <p:cNvPicPr>
            <a:picLocks noChangeAspect="1"/>
          </p:cNvPicPr>
          <p:nvPr/>
        </p:nvPicPr>
        <p:blipFill>
          <a:blip r:embed="rId1"/>
          <a:stretch>
            <a:fillRect/>
          </a:stretch>
        </p:blipFill>
        <p:spPr>
          <a:xfrm>
            <a:off x="411480" y="1147324"/>
            <a:ext cx="8321040" cy="1682991"/>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4: PLUMBING STAND</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wall of pipes with pressure gauges. A plumber opens whichever valve shows the biggest pressure difference, so water squirts in random bursts and never flows smoothly. On the short pipes (120 cm) they burst, soaking a sign reading 224. Next door, a careful plumber divides each gauge by a 'fullness' dial before turning a valve.</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Max-pressure has strong theory on paper, but it ignores progression and cycle structure. On a coordinated arterial, losing green waves cost far more than its exit awareness gained.</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7A4412"/>
                </a:solidFill>
              </a:rPr>
              <a:t>5  </a:t>
            </a:r>
            <a:pPr indent="0" marL="0">
              <a:buNone/>
            </a:pPr>
            <a:r>
              <a:rPr lang="en-US" sz="2400" b="1" dirty="0">
                <a:solidFill>
                  <a:schemeClr val="tx2"/>
                </a:solidFill>
              </a:rPr>
              <a:t>Detector faults and historic substitution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If your bathroom scale breaks and says 300 kg every morning, you should not start a crash diet. Better: notice it is impossible and use last month's weight until it is fixed.</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Stuck on: a fake permanent queue</a:t>
            </a:r>
            <a:endParaRPr lang="en-US" sz="1600" dirty="0"/>
          </a:p>
          <a:p>
            <a:pPr marL="342900" indent="-342900">
              <a:spcAft>
                <a:spcPts val="800"/>
              </a:spcAft>
              <a:buSzPct val="100000"/>
              <a:buChar char="•"/>
            </a:pPr>
            <a:r>
              <a:rPr lang="en-US" sz="1600" dirty="0">
                <a:solidFill>
                  <a:schemeClr val="tx1"/>
                </a:solidFill>
              </a:rPr>
              <a:t>Stuck off: green shrinks to minimum</a:t>
            </a:r>
            <a:endParaRPr lang="en-US" sz="1600" dirty="0"/>
          </a:p>
          <a:p>
            <a:pPr marL="342900" indent="-342900">
              <a:spcAft>
                <a:spcPts val="800"/>
              </a:spcAft>
              <a:buSzPct val="100000"/>
              <a:buChar char="•"/>
            </a:pPr>
            <a:r>
              <a:rPr lang="en-US" sz="1600" dirty="0">
                <a:solidFill>
                  <a:schemeClr val="tx1"/>
                </a:solidFill>
              </a:rPr>
              <a:t>Flag implausible loops, use history</a:t>
            </a:r>
            <a:endParaRPr lang="en-US" sz="1600" dirty="0"/>
          </a:p>
          <a:p>
            <a:pPr marL="342900" indent="-342900">
              <a:spcAft>
                <a:spcPts val="800"/>
              </a:spcAft>
              <a:buSzPct val="100000"/>
              <a:buChar char="•"/>
            </a:pPr>
            <a:r>
              <a:rPr lang="en-US" sz="1600" dirty="0">
                <a:solidFill>
                  <a:schemeClr val="tx1"/>
                </a:solidFill>
              </a:rPr>
              <a:t>69.6 s back to 42.4 s (healthy 30.4)</a:t>
            </a:r>
            <a:endParaRPr lang="en-US" sz="1600" dirty="0"/>
          </a:p>
        </p:txBody>
      </p:sp>
      <p:sp>
        <p:nvSpPr>
          <p:cNvPr id="7" name="stat card"/>
          <p:cNvSpPr/>
          <p:nvPr/>
        </p:nvSpPr>
        <p:spPr>
          <a:xfrm>
            <a:off x="5806440" y="2240280"/>
            <a:ext cx="2926080" cy="2377440"/>
          </a:xfrm>
          <a:prstGeom prst="roundRect">
            <a:avLst>
              <a:gd name="adj" fmla="val 3077"/>
            </a:avLst>
          </a:prstGeom>
          <a:solidFill>
            <a:srgbClr val="7A4412"/>
          </a:solidFill>
          <a:ln w="12700">
            <a:solidFill>
              <a:srgbClr val="7A4412"/>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70%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of the fault damage recovered by historic profiles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How much did history recover?</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4F0"/>
          </a:solidFill>
          <a:ln w="12700">
            <a:solidFill>
              <a:srgbClr val="EEF4F0"/>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recovered share = (faulty − substituted) ÷ (faulty − healthy)</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Healthy 30.44 s, faults with raw data 69.62 s, faults with historic substitution 42.44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Loss from faults: 69.62 − 30.44 = </a:t>
            </a:r>
            <a:pPr indent="0" marL="0">
              <a:buNone/>
            </a:pPr>
            <a:r>
              <a:rPr lang="en-US" sz="1150" b="1" dirty="0">
                <a:solidFill>
                  <a:srgbClr val="000000"/>
                </a:solidFill>
              </a:rPr>
              <a:t>39.18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Gained back by substitution: 69.62 − 42.44 = </a:t>
            </a:r>
            <a:pPr indent="0" marL="0">
              <a:buNone/>
            </a:pPr>
            <a:r>
              <a:rPr lang="en-US" sz="1150" b="1" dirty="0">
                <a:solidFill>
                  <a:srgbClr val="000000"/>
                </a:solidFill>
              </a:rPr>
              <a:t>27.18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Recovered share: 27.18 ÷ 39.18 = </a:t>
            </a:r>
            <a:pPr indent="0" marL="0">
              <a:buNone/>
            </a:pPr>
            <a:r>
              <a:rPr lang="en-US" sz="1150" b="1" dirty="0">
                <a:solidFill>
                  <a:srgbClr val="000000"/>
                </a:solidFill>
              </a:rPr>
              <a:t>0.69</a:t>
            </a:r>
            <a:pPr indent="0" marL="0">
              <a:buNone/>
            </a:pPr>
            <a:r>
              <a:rPr lang="en-US" sz="1150" dirty="0">
                <a:solidFill>
                  <a:srgbClr val="000000"/>
                </a:solidFill>
              </a:rPr>
              <a:t>, about 70%.</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Still missing: 42.44 − 30.44 = </a:t>
            </a:r>
            <a:pPr indent="0" marL="0">
              <a:buNone/>
            </a:pPr>
            <a:r>
              <a:rPr lang="en-US" sz="1150" b="1" dirty="0">
                <a:solidFill>
                  <a:srgbClr val="000000"/>
                </a:solidFill>
              </a:rPr>
              <a:t>12.0 s</a:t>
            </a:r>
            <a:pPr indent="0" marL="0">
              <a:buNone/>
            </a:pPr>
            <a:r>
              <a:rPr lang="en-US" sz="1150" dirty="0">
                <a:solidFill>
                  <a:srgbClr val="000000"/>
                </a:solidFill>
              </a:rPr>
              <a:t> per vehicle.</a:t>
            </a:r>
            <a:endParaRPr lang="en-US" sz="1100" dirty="0"/>
          </a:p>
          <a:p>
            <a:pPr indent="0" marL="0">
              <a:buNone/>
            </a:pPr>
            <a:r>
              <a:rPr lang="en-US" sz="1150" b="1" dirty="0">
                <a:solidFill>
                  <a:schemeClr val="tx2"/>
                </a:solidFill>
              </a:rPr>
              <a:t>History recovers most, not all, of the damage. Better substitutes (neighbouring links, connected vehicles) could close the remaining 12 s.</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Detector faults</a:t>
            </a:r>
            <a:endParaRPr lang="en-US" sz="2400" dirty="0"/>
          </a:p>
        </p:txBody>
      </p:sp>
      <p:pic>
        <p:nvPicPr>
          <p:cNvPr id="3" name="Image 0" descr="Mind map of Detector faults and historic substitution">    </p:cNvPr>
          <p:cNvPicPr>
            <a:picLocks noChangeAspect="1"/>
          </p:cNvPicPr>
          <p:nvPr/>
        </p:nvPicPr>
        <p:blipFill>
          <a:blip r:embed="rId1"/>
          <a:stretch>
            <a:fillRect/>
          </a:stretch>
        </p:blipFill>
        <p:spPr>
          <a:xfrm>
            <a:off x="411480" y="1135771"/>
            <a:ext cx="8321040" cy="1706099"/>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5: BROKEN-SCALE STAND</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row of 40 bathroom scales; 13 are broken. Some flash 999 forever, others show zero while an elephant stands on them. A librarian with a dusty photo album walks along, covering each broken scale with an old photo of what it used to read. A banner shows 70% in big letters.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stuck-on detector is not 'more data'. It is the most harmful fault, because the model believes there is a permanent queue and reshapes the whole region's timings around it.</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5A2F38"/>
                </a:solidFill>
              </a:rPr>
              <a:t>6  </a:t>
            </a:r>
            <a:pPr indent="0" marL="0">
              <a:buNone/>
            </a:pPr>
            <a:r>
              <a:rPr lang="en-US" sz="2400" b="1" dirty="0">
                <a:solidFill>
                  <a:schemeClr val="tx2"/>
                </a:solidFill>
              </a:rPr>
              <a:t>Emissions-aware SCOOT: the price of a stop</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Choosing a route home: you can minimise minutes, or also count each traffic light stop as 'costing' some minutes because stopping is annoying and wasteful. The bigger that cost, the more you prefer a smooth, slightly longer route.</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PI = delay + K × stops</a:t>
            </a:r>
            <a:endParaRPr lang="en-US" sz="1600" dirty="0"/>
          </a:p>
          <a:p>
            <a:pPr marL="342900" indent="-342900">
              <a:spcAft>
                <a:spcPts val="800"/>
              </a:spcAft>
              <a:buSzPct val="100000"/>
              <a:buChar char="•"/>
            </a:pPr>
            <a:r>
              <a:rPr lang="en-US" sz="1600" dirty="0">
                <a:solidFill>
                  <a:schemeClr val="tx1"/>
                </a:solidFill>
              </a:rPr>
              <a:t>Tested K = 0, 4, 12, 20, 40</a:t>
            </a:r>
            <a:endParaRPr lang="en-US" sz="1600" dirty="0"/>
          </a:p>
          <a:p>
            <a:pPr marL="342900" indent="-342900">
              <a:spcAft>
                <a:spcPts val="800"/>
              </a:spcAft>
              <a:buSzPct val="100000"/>
              <a:buChar char="•"/>
            </a:pPr>
            <a:r>
              <a:rPr lang="en-US" sz="1600" dirty="0">
                <a:solidFill>
                  <a:schemeClr val="tx1"/>
                </a:solidFill>
              </a:rPr>
              <a:t>Most K: ~30 s and ~228 g CO2</a:t>
            </a:r>
            <a:endParaRPr lang="en-US" sz="1600" dirty="0"/>
          </a:p>
          <a:p>
            <a:pPr marL="342900" indent="-342900">
              <a:spcAft>
                <a:spcPts val="800"/>
              </a:spcAft>
              <a:buSzPct val="100000"/>
              <a:buChar char="•"/>
            </a:pPr>
            <a:r>
              <a:rPr lang="en-US" sz="1600" dirty="0">
                <a:solidFill>
                  <a:schemeClr val="tx1"/>
                </a:solidFill>
              </a:rPr>
              <a:t>K = 12 outlier: path dependence</a:t>
            </a:r>
            <a:endParaRPr lang="en-US" sz="1600" dirty="0"/>
          </a:p>
        </p:txBody>
      </p:sp>
      <p:sp>
        <p:nvSpPr>
          <p:cNvPr id="7" name="stat card"/>
          <p:cNvSpPr/>
          <p:nvPr/>
        </p:nvSpPr>
        <p:spPr>
          <a:xfrm>
            <a:off x="5806440" y="2240280"/>
            <a:ext cx="2926080" cy="2377440"/>
          </a:xfrm>
          <a:prstGeom prst="roundRect">
            <a:avLst>
              <a:gd name="adj" fmla="val 3077"/>
            </a:avLst>
          </a:prstGeom>
          <a:solidFill>
            <a:srgbClr val="5A2F38"/>
          </a:solidFill>
          <a:ln w="12700">
            <a:solidFill>
              <a:srgbClr val="5A2F38"/>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~228 g</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CO2 per vehicle for K = 0, 4, 20 and 40</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Which offset wins as K changes?</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PI = delay + K × stops</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break-even K = (delay</a:t>
            </a:r>
            <a:pPr algn="ctr" indent="0" marL="0">
              <a:buNone/>
            </a:pPr>
            <a:r>
              <a:rPr lang="en-US" sz="1350" baseline="-40000" dirty="0">
                <a:solidFill>
                  <a:schemeClr val="tx2"/>
                </a:solidFill>
                <a:latin typeface="Cambria" pitchFamily="34" charset="0"/>
                <a:ea typeface="Cambria" pitchFamily="34" charset="-122"/>
                <a:cs typeface="Cambria" pitchFamily="34" charset="-120"/>
              </a:rPr>
              <a:t>B</a:t>
            </a:r>
            <a:pPr algn="ctr" indent="0" marL="0">
              <a:buNone/>
            </a:pPr>
            <a:r>
              <a:rPr lang="en-US" sz="1350" dirty="0">
                <a:solidFill>
                  <a:schemeClr val="tx2"/>
                </a:solidFill>
                <a:latin typeface="Cambria" pitchFamily="34" charset="0"/>
                <a:ea typeface="Cambria" pitchFamily="34" charset="-122"/>
                <a:cs typeface="Cambria" pitchFamily="34" charset="-120"/>
              </a:rPr>
              <a:t> − delay</a:t>
            </a:r>
            <a:pPr algn="ctr" indent="0" marL="0">
              <a:buNone/>
            </a:pPr>
            <a:r>
              <a:rPr lang="en-US" sz="1350" baseline="-40000" dirty="0">
                <a:solidFill>
                  <a:schemeClr val="tx2"/>
                </a:solidFill>
                <a:latin typeface="Cambria" pitchFamily="34" charset="0"/>
                <a:ea typeface="Cambria" pitchFamily="34" charset="-122"/>
                <a:cs typeface="Cambria" pitchFamily="34" charset="-120"/>
              </a:rPr>
              <a:t>A</a:t>
            </a:r>
            <a:pPr algn="ctr" indent="0" marL="0">
              <a:buNone/>
            </a:pPr>
            <a:r>
              <a:rPr lang="en-US" sz="1350" dirty="0">
                <a:solidFill>
                  <a:schemeClr val="tx2"/>
                </a:solidFill>
                <a:latin typeface="Cambria" pitchFamily="34" charset="0"/>
                <a:ea typeface="Cambria" pitchFamily="34" charset="-122"/>
                <a:cs typeface="Cambria" pitchFamily="34" charset="-120"/>
              </a:rPr>
              <a:t>) ÷ (stops</a:t>
            </a:r>
            <a:pPr algn="ctr" indent="0" marL="0">
              <a:buNone/>
            </a:pPr>
            <a:r>
              <a:rPr lang="en-US" sz="1350" baseline="-40000" dirty="0">
                <a:solidFill>
                  <a:schemeClr val="tx2"/>
                </a:solidFill>
                <a:latin typeface="Cambria" pitchFamily="34" charset="0"/>
                <a:ea typeface="Cambria" pitchFamily="34" charset="-122"/>
                <a:cs typeface="Cambria" pitchFamily="34" charset="-120"/>
              </a:rPr>
              <a:t>A</a:t>
            </a:r>
            <a:pPr algn="ctr" indent="0" marL="0">
              <a:buNone/>
            </a:pPr>
            <a:r>
              <a:rPr lang="en-US" sz="1350" dirty="0">
                <a:solidFill>
                  <a:schemeClr val="tx2"/>
                </a:solidFill>
                <a:latin typeface="Cambria" pitchFamily="34" charset="0"/>
                <a:ea typeface="Cambria" pitchFamily="34" charset="-122"/>
                <a:cs typeface="Cambria" pitchFamily="34" charset="-120"/>
              </a:rPr>
              <a:t> − stops</a:t>
            </a:r>
            <a:pPr algn="ctr" indent="0" marL="0">
              <a:buNone/>
            </a:pPr>
            <a:r>
              <a:rPr lang="en-US" sz="1350" baseline="-40000" dirty="0">
                <a:solidFill>
                  <a:schemeClr val="tx2"/>
                </a:solidFill>
                <a:latin typeface="Cambria" pitchFamily="34" charset="0"/>
                <a:ea typeface="Cambria" pitchFamily="34" charset="-122"/>
                <a:cs typeface="Cambria" pitchFamily="34" charset="-120"/>
              </a:rPr>
              <a:t>B</a:t>
            </a:r>
            <a:pPr algn="ctr" indent="0" marL="0">
              <a:buNone/>
            </a:pPr>
            <a:r>
              <a:rPr lang="en-US" sz="1350" dirty="0">
                <a:solidFill>
                  <a:schemeClr val="tx2"/>
                </a:solidFill>
                <a:latin typeface="Cambria" pitchFamily="34" charset="0"/>
                <a:ea typeface="Cambria" pitchFamily="34" charset="-122"/>
                <a:cs typeface="Cambria" pitchFamily="34" charset="-120"/>
              </a:rPr>
              <a:t>)</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Offset A: delay 300 veh·s, 8 stops per cycle. Offset B: delay 320 veh·s, 5 stops.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K = 4: PI</a:t>
            </a:r>
            <a:pPr indent="0" marL="0">
              <a:buNone/>
            </a:pPr>
            <a:r>
              <a:rPr lang="en-US" sz="1150" baseline="-40000" dirty="0">
                <a:solidFill>
                  <a:srgbClr val="000000"/>
                </a:solidFill>
              </a:rPr>
              <a:t>A</a:t>
            </a:r>
            <a:pPr indent="0" marL="0">
              <a:buNone/>
            </a:pPr>
            <a:r>
              <a:rPr lang="en-US" sz="1150" dirty="0">
                <a:solidFill>
                  <a:srgbClr val="000000"/>
                </a:solidFill>
              </a:rPr>
              <a:t> = 300 + 4 × 8 = </a:t>
            </a:r>
            <a:pPr indent="0" marL="0">
              <a:buNone/>
            </a:pPr>
            <a:r>
              <a:rPr lang="en-US" sz="1150" b="1" dirty="0">
                <a:solidFill>
                  <a:srgbClr val="000000"/>
                </a:solidFill>
              </a:rPr>
              <a:t>332</a:t>
            </a:r>
            <a:pPr indent="0" marL="0">
              <a:buNone/>
            </a:pPr>
            <a:r>
              <a:rPr lang="en-US" sz="1150" dirty="0">
                <a:solidFill>
                  <a:srgbClr val="000000"/>
                </a:solidFill>
              </a:rPr>
              <a:t>; PI</a:t>
            </a:r>
            <a:pPr indent="0" marL="0">
              <a:buNone/>
            </a:pPr>
            <a:r>
              <a:rPr lang="en-US" sz="1150" baseline="-40000" dirty="0">
                <a:solidFill>
                  <a:srgbClr val="000000"/>
                </a:solidFill>
              </a:rPr>
              <a:t>B</a:t>
            </a:r>
            <a:pPr indent="0" marL="0">
              <a:buNone/>
            </a:pPr>
            <a:r>
              <a:rPr lang="en-US" sz="1150" dirty="0">
                <a:solidFill>
                  <a:srgbClr val="000000"/>
                </a:solidFill>
              </a:rPr>
              <a:t> = 320 + 4 × 5 = </a:t>
            </a:r>
            <a:pPr indent="0" marL="0">
              <a:buNone/>
            </a:pPr>
            <a:r>
              <a:rPr lang="en-US" sz="1150" b="1" dirty="0">
                <a:solidFill>
                  <a:srgbClr val="000000"/>
                </a:solidFill>
              </a:rPr>
              <a:t>340</a:t>
            </a:r>
            <a:pPr indent="0" marL="0">
              <a:buNone/>
            </a:pPr>
            <a:r>
              <a:rPr lang="en-US" sz="1150" dirty="0">
                <a:solidFill>
                  <a:srgbClr val="000000"/>
                </a:solidFill>
              </a:rPr>
              <a:t>. A wins.</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K = 20: PI</a:t>
            </a:r>
            <a:pPr indent="0" marL="0">
              <a:buNone/>
            </a:pPr>
            <a:r>
              <a:rPr lang="en-US" sz="1150" baseline="-40000" dirty="0">
                <a:solidFill>
                  <a:srgbClr val="000000"/>
                </a:solidFill>
              </a:rPr>
              <a:t>A</a:t>
            </a:r>
            <a:pPr indent="0" marL="0">
              <a:buNone/>
            </a:pPr>
            <a:r>
              <a:rPr lang="en-US" sz="1150" dirty="0">
                <a:solidFill>
                  <a:srgbClr val="000000"/>
                </a:solidFill>
              </a:rPr>
              <a:t> = 300 + 160 = </a:t>
            </a:r>
            <a:pPr indent="0" marL="0">
              <a:buNone/>
            </a:pPr>
            <a:r>
              <a:rPr lang="en-US" sz="1150" b="1" dirty="0">
                <a:solidFill>
                  <a:srgbClr val="000000"/>
                </a:solidFill>
              </a:rPr>
              <a:t>460</a:t>
            </a:r>
            <a:pPr indent="0" marL="0">
              <a:buNone/>
            </a:pPr>
            <a:r>
              <a:rPr lang="en-US" sz="1150" dirty="0">
                <a:solidFill>
                  <a:srgbClr val="000000"/>
                </a:solidFill>
              </a:rPr>
              <a:t>; PI</a:t>
            </a:r>
            <a:pPr indent="0" marL="0">
              <a:buNone/>
            </a:pPr>
            <a:r>
              <a:rPr lang="en-US" sz="1150" baseline="-40000" dirty="0">
                <a:solidFill>
                  <a:srgbClr val="000000"/>
                </a:solidFill>
              </a:rPr>
              <a:t>B</a:t>
            </a:r>
            <a:pPr indent="0" marL="0">
              <a:buNone/>
            </a:pPr>
            <a:r>
              <a:rPr lang="en-US" sz="1150" dirty="0">
                <a:solidFill>
                  <a:srgbClr val="000000"/>
                </a:solidFill>
              </a:rPr>
              <a:t> = 320 + 100 = </a:t>
            </a:r>
            <a:pPr indent="0" marL="0">
              <a:buNone/>
            </a:pPr>
            <a:r>
              <a:rPr lang="en-US" sz="1150" b="1" dirty="0">
                <a:solidFill>
                  <a:srgbClr val="000000"/>
                </a:solidFill>
              </a:rPr>
              <a:t>420</a:t>
            </a:r>
            <a:pPr indent="0" marL="0">
              <a:buNone/>
            </a:pPr>
            <a:r>
              <a:rPr lang="en-US" sz="1150" dirty="0">
                <a:solidFill>
                  <a:srgbClr val="000000"/>
                </a:solidFill>
              </a:rPr>
              <a:t>. B wins.</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Break-even: (320 − 300) ÷ (8 − 5) = 20 ÷ 3 = </a:t>
            </a:r>
            <a:pPr indent="0" marL="0">
              <a:buNone/>
            </a:pPr>
            <a:r>
              <a:rPr lang="en-US" sz="1150" b="1" dirty="0">
                <a:solidFill>
                  <a:srgbClr val="000000"/>
                </a:solidFill>
              </a:rPr>
              <a:t>6.7 s per stop</a:t>
            </a:r>
            <a:pPr indent="0" marL="0">
              <a:buNone/>
            </a:pPr>
            <a:r>
              <a:rPr lang="en-US" sz="1150" dirty="0">
                <a:solidFill>
                  <a:srgbClr val="000000"/>
                </a:solidFill>
              </a:rPr>
              <a:t>.</a:t>
            </a:r>
            <a:endParaRPr lang="en-US" sz="1100" dirty="0"/>
          </a:p>
          <a:p>
            <a:pPr indent="0" marL="0">
              <a:buNone/>
            </a:pPr>
            <a:r>
              <a:rPr lang="en-US" sz="1150" b="1" dirty="0">
                <a:solidFill>
                  <a:schemeClr val="tx2"/>
                </a:solidFill>
              </a:rPr>
              <a:t>Below K ≈ 6.7 SCOOT picks the lower-delay offset; above it, the smoother one. K changes decisions, but not always the final results.</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Stop weight K</a:t>
            </a:r>
            <a:endParaRPr lang="en-US" sz="2400" dirty="0"/>
          </a:p>
        </p:txBody>
      </p:sp>
      <p:pic>
        <p:nvPicPr>
          <p:cNvPr id="3" name="Image 0" descr="Mind map of Emissions-aware SCOOT: the price of a stop">    </p:cNvPr>
          <p:cNvPicPr>
            <a:picLocks noChangeAspect="1"/>
          </p:cNvPicPr>
          <p:nvPr/>
        </p:nvPicPr>
        <p:blipFill>
          <a:blip r:embed="rId1"/>
          <a:stretch>
            <a:fillRect/>
          </a:stretch>
        </p:blipFill>
        <p:spPr>
          <a:xfrm>
            <a:off x="411480" y="1075137"/>
            <a:ext cx="8321040" cy="1827366"/>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6: EXHAUST-BALLOON STAND</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toy car drives a little track with a dial labelled K. Every time it stops, a balloon inflates on its exhaust. At K = 0, 4, 20 and 40 the balloons are all the same size, about 228 grams. At K = 12 the car takes a wrong turn at the very first corner and a giant balloon pops.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conclude 'K = 12 is bad' from one run. When one setting is worse on every measure and its neighbours are fine, suspect path dependence and run more seeds.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3F3266"/>
                </a:solidFill>
              </a:rPr>
              <a:t>7  </a:t>
            </a:r>
            <a:pPr indent="0" marL="0">
              <a:buNone/>
            </a:pPr>
            <a:r>
              <a:rPr lang="en-US" sz="2400" b="1" dirty="0">
                <a:solidFill>
                  <a:schemeClr val="tx2"/>
                </a:solidFill>
              </a:rPr>
              <a:t>Predicting stage changes for GLOSA</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bus timetable that a driver adjusts a little at every stop. Ask 'when does it reach my stop?' a minute ahead and the answer may slip by a couple of minutes; ask when it is one stop away and it is nearly exact, unless something sudden happens.</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GLOSA needs the end of green</a:t>
            </a:r>
            <a:endParaRPr lang="en-US" sz="1600" dirty="0"/>
          </a:p>
          <a:p>
            <a:pPr marL="342900" indent="-342900">
              <a:spcAft>
                <a:spcPts val="800"/>
              </a:spcAft>
              <a:buSzPct val="100000"/>
              <a:buChar char="•"/>
            </a:pPr>
            <a:r>
              <a:rPr lang="en-US" sz="1600" dirty="0">
                <a:solidFill>
                  <a:schemeClr val="tx1"/>
                </a:solidFill>
              </a:rPr>
              <a:t>Predict from SCOOT's own schedule</a:t>
            </a:r>
            <a:endParaRPr lang="en-US" sz="1600" dirty="0"/>
          </a:p>
          <a:p>
            <a:pPr marL="342900" indent="-342900">
              <a:spcAft>
                <a:spcPts val="800"/>
              </a:spcAft>
              <a:buSzPct val="100000"/>
              <a:buChar char="•"/>
            </a:pPr>
            <a:r>
              <a:rPr lang="en-US" sz="1600" dirty="0">
                <a:solidFill>
                  <a:schemeClr val="tx1"/>
                </a:solidFill>
              </a:rPr>
              <a:t>Mean error 1.3-2.6 s, 90% under 6 s</a:t>
            </a:r>
            <a:endParaRPr lang="en-US" sz="1600" dirty="0"/>
          </a:p>
          <a:p>
            <a:pPr marL="342900" indent="-342900">
              <a:spcAft>
                <a:spcPts val="800"/>
              </a:spcAft>
              <a:buSzPct val="100000"/>
              <a:buChar char="•"/>
            </a:pPr>
            <a:r>
              <a:rPr lang="en-US" sz="1600" dirty="0">
                <a:solidFill>
                  <a:schemeClr val="tx1"/>
                </a:solidFill>
              </a:rPr>
              <a:t>Advise with a confidence band</a:t>
            </a:r>
            <a:endParaRPr lang="en-US" sz="1600" dirty="0"/>
          </a:p>
        </p:txBody>
      </p:sp>
      <p:sp>
        <p:nvSpPr>
          <p:cNvPr id="7" name="stat card"/>
          <p:cNvSpPr/>
          <p:nvPr/>
        </p:nvSpPr>
        <p:spPr>
          <a:xfrm>
            <a:off x="5806440" y="2240280"/>
            <a:ext cx="2926080" cy="2377440"/>
          </a:xfrm>
          <a:prstGeom prst="roundRect">
            <a:avLst>
              <a:gd name="adj" fmla="val 3077"/>
            </a:avLst>
          </a:prstGeom>
          <a:solidFill>
            <a:srgbClr val="3F3266"/>
          </a:solidFill>
          <a:ln w="12700">
            <a:solidFill>
              <a:srgbClr val="3F3266"/>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1.3-2.6 s</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mean error of predicted end of green, up to 60 s ahead</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Can this driver make the green?</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advised speed = distance ÷ time until green</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safety margin = predicted time left − time needed</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Green predicted to end in 15 s. Car 180 m away, speed limit 13.9 m/s (50 km/h). At this horizon: MAE about 1.5 s, 90th percentile about 5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Time needed at the limit: 180 ÷ 13.9 = </a:t>
            </a:r>
            <a:pPr indent="0" marL="0">
              <a:buNone/>
            </a:pPr>
            <a:r>
              <a:rPr lang="en-US" sz="1150" b="1" dirty="0">
                <a:solidFill>
                  <a:srgbClr val="000000"/>
                </a:solidFill>
              </a:rPr>
              <a:t>12.9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Margin: 15 − 12.9 = </a:t>
            </a:r>
            <a:pPr indent="0" marL="0">
              <a:buNone/>
            </a:pPr>
            <a:r>
              <a:rPr lang="en-US" sz="1150" b="1" dirty="0">
                <a:solidFill>
                  <a:srgbClr val="000000"/>
                </a:solidFill>
              </a:rPr>
              <a:t>2.1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Compare with MAE 1.5 s: on an average day, the driver makes it.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Compare with 90th percentile 5 s: 2.1 s is below 5 s, so on a bad day the green ends first.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Advice: do not tell this driver to hurry; plan to stop or advise for the next green.</a:t>
            </a:r>
            <a:endParaRPr lang="en-US" sz="1100" dirty="0"/>
          </a:p>
          <a:p>
            <a:pPr indent="0" marL="0">
              <a:buNone/>
            </a:pPr>
            <a:r>
              <a:rPr lang="en-US" sz="1150" b="1" dirty="0">
                <a:solidFill>
                  <a:schemeClr val="tx2"/>
                </a:solidFill>
              </a:rPr>
              <a:t>Average accuracy is good, but advice must respect the worst cases. That is why a confidence band is better than a single predicted time.</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GLOSA prediction</a:t>
            </a:r>
            <a:endParaRPr lang="en-US" sz="2400" dirty="0"/>
          </a:p>
        </p:txBody>
      </p:sp>
      <p:pic>
        <p:nvPicPr>
          <p:cNvPr id="3" name="Image 0" descr="Mind map of Predicting stage changes for GLOSA">    </p:cNvPr>
          <p:cNvPicPr>
            <a:picLocks noChangeAspect="1"/>
          </p:cNvPicPr>
          <p:nvPr/>
        </p:nvPicPr>
        <p:blipFill>
          <a:blip r:embed="rId1"/>
          <a:stretch>
            <a:fillRect/>
          </a:stretch>
        </p:blipFill>
        <p:spPr>
          <a:xfrm>
            <a:off x="411480" y="1104611"/>
            <a:ext cx="8321040" cy="1768418"/>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7: FORTUNE-TELLER TENT</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the last tent a fortune teller gazes into a crystal ball shaped like a traffic light and announces 'green ends in 15 seconds!'. She is usually off by only one or two seconds, but a bus keeps barging into the tent at the last moment and she yells 'six!' to cover herself.</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small average error is not enough for safe advice. Drivers act on single predictions, so the tail (90th percentile, about 5-6 s) decides whether advice is trustworthy.</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Six research studies at a glance</a:t>
            </a:r>
            <a:endParaRPr lang="en-US" sz="2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554480"/>
                <a:gridCol w="1691640"/>
                <a:gridCol w="1691640"/>
                <a:gridCol w="1691640"/>
                <a:gridCol w="1691640"/>
              </a:tblGrid>
              <a:tr h="0">
                <a:tc>
                  <a:txBody>
                    <a:bodyPr/>
                    <a:lstStyle/>
                    <a:p>
                      <a:pPr indent="0" marL="0">
                        <a:buNone/>
                      </a:pPr>
                      <a:r>
                        <a:rPr lang="en-US" sz="1250" b="1" dirty="0">
                          <a:solidFill>
                            <a:srgbClr val="FFFFFF"/>
                          </a:solidFill>
                        </a:rPr>
                        <a:t>Study</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What changed</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Baseline result</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New result</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Verdict</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r>
              <a:tr h="0">
                <a:tc>
                  <a:txBody>
                    <a:bodyPr/>
                    <a:lstStyle/>
                    <a:p>
                      <a:pPr indent="0" marL="0">
                        <a:buNone/>
                      </a:pPr>
                      <a:r>
                        <a:rPr lang="en-US" sz="1250" b="1" dirty="0">
                          <a:solidFill>
                            <a:srgbClr val="000000"/>
                          </a:solidFill>
                        </a:rPr>
                        <a:t>CV data</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data source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loops 30.4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25%: 33.9 s; 100%: 26.3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promising</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RL splits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split chooser</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SCOOT 37.8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67.7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not yet</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Max-pressure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whole controller</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SCOOT 30.4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68.3 s (300 m)</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worse here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Exit-aware SCOOT</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split score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SCOOT 28.7 s (120 m)</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29.7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needs harder test</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Detector faults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fault handling</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raw faults 69.6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history 42.4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recovers ~70%</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Stop weight K</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PI weight</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K = 4: 30.4 s, 227 g</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 clean trade-off</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use more seeds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GLOSA</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prediction</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n/a</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MAE 1.3-2.6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usable with a band</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Things beginners mix up</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737360"/>
                <a:gridCol w="1737360"/>
                <a:gridCol w="4846320"/>
              </a:tblGrid>
              <a:tr h="0">
                <a:tc>
                  <a:txBody>
                    <a:bodyPr/>
                    <a:lstStyle/>
                    <a:p>
                      <a:pPr indent="0" marL="0">
                        <a:buNone/>
                      </a:pPr>
                      <a:r>
                        <a:rPr lang="en-US" sz="1300" b="1" dirty="0">
                          <a:solidFill>
                            <a:srgbClr val="FFFFFF"/>
                          </a:solidFill>
                        </a:rPr>
                        <a:t>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300" b="1" dirty="0">
                          <a:solidFill>
                            <a:srgbClr val="FFFFFF"/>
                          </a:solidFill>
                        </a:rPr>
                        <a:t>…is not 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300" b="1" dirty="0">
                          <a:solidFill>
                            <a:srgbClr val="FFFFFF"/>
                          </a:solidFill>
                        </a:rPr>
                        <a:t>The fact that tells them apart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r>
              <a:tr h="0">
                <a:tc>
                  <a:txBody>
                    <a:bodyPr/>
                    <a:lstStyle/>
                    <a:p>
                      <a:pPr indent="0" marL="0">
                        <a:buNone/>
                      </a:pPr>
                      <a:r>
                        <a:rPr lang="en-US" sz="1300" b="1" dirty="0">
                          <a:solidFill>
                            <a:srgbClr val="000000"/>
                          </a:solidFill>
                        </a:rPr>
                        <a:t>Open-loop error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Closed-loop performance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53% error per minute at 25% CV still gave delay within 11% of loops.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Best seed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The result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Report the spread over seeds; SCOOT alone varied by 9 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Max-pressure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Exit-aware SCOOT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Max-pressure drops the cycle; exit-aware SCOOT only rescales the split score.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Stuck on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Stuck off</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Stuck on fakes a queue and steals green; stuck off hides traffic and starves it.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Mean error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Worst-case error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GLOSA advice must respect the 90th percentile (~5-6 s), not just MAE.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(1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4F0"/>
          </a:solidFill>
          <a:ln w="12700">
            <a:solidFill>
              <a:srgbClr val="EEF4F0"/>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20 vehicles per cycle, p = 25%. What is the spread of the CV-based estimate?</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1.9 vehicles</a:t>
            </a:r>
            <a:endParaRPr lang="en-US" sz="1400" dirty="0"/>
          </a:p>
          <a:p>
            <a:pPr indent="0" marL="0">
              <a:spcAft>
                <a:spcPts val="900"/>
              </a:spcAft>
              <a:buNone/>
            </a:pPr>
            <a:r>
              <a:rPr lang="en-US" sz="1400" dirty="0">
                <a:solidFill>
                  <a:srgbClr val="000000"/>
                </a:solidFill>
              </a:rPr>
              <a:t>B.  5 vehicles</a:t>
            </a:r>
            <a:endParaRPr lang="en-US" sz="1400" dirty="0"/>
          </a:p>
          <a:p>
            <a:pPr indent="0" marL="0">
              <a:spcAft>
                <a:spcPts val="900"/>
              </a:spcAft>
              <a:buNone/>
            </a:pPr>
            <a:r>
              <a:rPr lang="en-US" sz="1400" dirty="0">
                <a:solidFill>
                  <a:srgbClr val="000000"/>
                </a:solidFill>
              </a:rPr>
              <a:t>C.  7.7 vehicles</a:t>
            </a:r>
            <a:endParaRPr lang="en-US" sz="1400" dirty="0"/>
          </a:p>
          <a:p>
            <a:pPr indent="0" marL="0">
              <a:spcAft>
                <a:spcPts val="900"/>
              </a:spcAft>
              <a:buNone/>
            </a:pPr>
            <a:r>
              <a:rPr lang="en-US" sz="1400" dirty="0">
                <a:solidFill>
                  <a:srgbClr val="000000"/>
                </a:solidFill>
              </a:rPr>
              <a:t>D.  19.5 vehicles</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4F0"/>
          </a:solidFill>
          <a:ln w="12700">
            <a:solidFill>
              <a:srgbClr val="EEF4F0"/>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Why did pure max-pressure do badly on 300 m links?</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It ignores the upstream queue</a:t>
            </a:r>
            <a:endParaRPr lang="en-US" sz="1400" dirty="0"/>
          </a:p>
          <a:p>
            <a:pPr indent="0" marL="0">
              <a:spcAft>
                <a:spcPts val="900"/>
              </a:spcAft>
              <a:buNone/>
            </a:pPr>
            <a:r>
              <a:rPr lang="en-US" sz="1400" dirty="0">
                <a:solidFill>
                  <a:srgbClr val="000000"/>
                </a:solidFill>
              </a:rPr>
              <a:t>B.  It has no cycle, so it loses progression (green waves)</a:t>
            </a:r>
            <a:endParaRPr lang="en-US" sz="1400" dirty="0"/>
          </a:p>
          <a:p>
            <a:pPr indent="0" marL="0">
              <a:spcAft>
                <a:spcPts val="900"/>
              </a:spcAft>
              <a:buNone/>
            </a:pPr>
            <a:r>
              <a:rPr lang="en-US" sz="1400" dirty="0">
                <a:solidFill>
                  <a:srgbClr val="000000"/>
                </a:solidFill>
              </a:rPr>
              <a:t>C.  Its detectors failed</a:t>
            </a:r>
            <a:endParaRPr lang="en-US" sz="1400" dirty="0"/>
          </a:p>
          <a:p>
            <a:pPr indent="0" marL="0">
              <a:spcAft>
                <a:spcPts val="900"/>
              </a:spcAft>
              <a:buNone/>
            </a:pPr>
            <a:r>
              <a:rPr lang="en-US" sz="1400" dirty="0">
                <a:solidFill>
                  <a:srgbClr val="000000"/>
                </a:solidFill>
              </a:rPr>
              <a:t>D.  It used CV data</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(2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4F0"/>
          </a:solidFill>
          <a:ln w="12700">
            <a:solidFill>
              <a:srgbClr val="EEF4F0"/>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Offset A: delay 300, 8 stops; B: delay 320, 5 stops. Which wins at K = 20?</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A</a:t>
            </a:r>
            <a:endParaRPr lang="en-US" sz="1400" dirty="0"/>
          </a:p>
          <a:p>
            <a:pPr indent="0" marL="0">
              <a:spcAft>
                <a:spcPts val="900"/>
              </a:spcAft>
              <a:buNone/>
            </a:pPr>
            <a:r>
              <a:rPr lang="en-US" sz="1400" dirty="0">
                <a:solidFill>
                  <a:srgbClr val="000000"/>
                </a:solidFill>
              </a:rPr>
              <a:t>B.  B</a:t>
            </a:r>
            <a:endParaRPr lang="en-US" sz="1400" dirty="0"/>
          </a:p>
          <a:p>
            <a:pPr indent="0" marL="0">
              <a:spcAft>
                <a:spcPts val="900"/>
              </a:spcAft>
              <a:buNone/>
            </a:pPr>
            <a:r>
              <a:rPr lang="en-US" sz="1400" dirty="0">
                <a:solidFill>
                  <a:srgbClr val="000000"/>
                </a:solidFill>
              </a:rPr>
              <a:t>C.  They tie</a:t>
            </a:r>
            <a:endParaRPr lang="en-US" sz="1400" dirty="0"/>
          </a:p>
          <a:p>
            <a:pPr indent="0" marL="0">
              <a:spcAft>
                <a:spcPts val="900"/>
              </a:spcAft>
              <a:buNone/>
            </a:pPr>
            <a:r>
              <a:rPr lang="en-US" sz="1400" dirty="0">
                <a:solidFill>
                  <a:srgbClr val="000000"/>
                </a:solidFill>
              </a:rPr>
              <a:t>D.  Cannot tell</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4F0"/>
          </a:solidFill>
          <a:ln w="12700">
            <a:solidFill>
              <a:srgbClr val="EEF4F0"/>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Exit-aware SCOOT changed no decisions on 300 m links. Why, and what test would be better?</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Bug; rerun</a:t>
            </a:r>
            <a:endParaRPr lang="en-US" sz="1400" dirty="0"/>
          </a:p>
          <a:p>
            <a:pPr indent="0" marL="0">
              <a:spcAft>
                <a:spcPts val="900"/>
              </a:spcAft>
              <a:buNone/>
            </a:pPr>
            <a:r>
              <a:rPr lang="en-US" sz="1400" dirty="0">
                <a:solidFill>
                  <a:srgbClr val="000000"/>
                </a:solidFill>
              </a:rPr>
              <a:t>B.  No exit ever filled; test a grid of short links with spill-back</a:t>
            </a:r>
            <a:endParaRPr lang="en-US" sz="1400" dirty="0"/>
          </a:p>
          <a:p>
            <a:pPr indent="0" marL="0">
              <a:spcAft>
                <a:spcPts val="900"/>
              </a:spcAft>
              <a:buNone/>
            </a:pPr>
            <a:r>
              <a:rPr lang="en-US" sz="1400" dirty="0">
                <a:solidFill>
                  <a:srgbClr val="000000"/>
                </a:solidFill>
              </a:rPr>
              <a:t>C.  λ was too large; set λ = 0</a:t>
            </a:r>
            <a:endParaRPr lang="en-US" sz="1400" dirty="0"/>
          </a:p>
          <a:p>
            <a:pPr indent="0" marL="0">
              <a:spcAft>
                <a:spcPts val="900"/>
              </a:spcAft>
              <a:buNone/>
            </a:pPr>
            <a:r>
              <a:rPr lang="en-US" sz="1400" dirty="0">
                <a:solidFill>
                  <a:srgbClr val="000000"/>
                </a:solidFill>
              </a:rPr>
              <a:t>D.  CV data was missing</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Walk the memory route</a:t>
            </a:r>
            <a:endParaRPr lang="en-US" sz="2400" dirty="0"/>
          </a:p>
        </p:txBody>
      </p:sp>
      <p:pic>
        <p:nvPicPr>
          <p:cNvPr id="3" name="Image 0" descr="Memory route with one stop per concept">    </p:cNvPr>
          <p:cNvPicPr>
            <a:picLocks noChangeAspect="1"/>
          </p:cNvPicPr>
          <p:nvPr/>
        </p:nvPicPr>
        <p:blipFill>
          <a:blip r:embed="rId1"/>
          <a:stretch>
            <a:fillRect/>
          </a:stretch>
        </p:blipFill>
        <p:spPr>
          <a:xfrm>
            <a:off x="834044" y="914400"/>
            <a:ext cx="7475913" cy="3246120"/>
          </a:xfrm>
          <a:prstGeom prst="rect">
            <a:avLst/>
          </a:prstGeom>
        </p:spPr>
      </p:pic>
      <p:sp>
        <p:nvSpPr>
          <p:cNvPr id="4" name="Text 1"/>
          <p:cNvSpPr txBox="1"/>
          <p:nvPr/>
        </p:nvSpPr>
        <p:spPr>
          <a:xfrm>
            <a:off x="411480" y="4206240"/>
            <a:ext cx="8321040" cy="502920"/>
          </a:xfrm>
          <a:prstGeom prst="rect">
            <a:avLst/>
          </a:prstGeom>
          <a:noFill/>
          <a:ln/>
        </p:spPr>
        <p:txBody>
          <a:bodyPr wrap="square" rtlCol="0" anchor="ctr"/>
          <a:lstStyle/>
          <a:p>
            <a:pPr algn="ctr" indent="0" marL="0">
              <a:buNone/>
            </a:pPr>
            <a:r>
              <a:rPr lang="en-US" sz="1100" dirty="0">
                <a:solidFill>
                  <a:schemeClr val="tx1"/>
                </a:solidFill>
              </a:rPr>
              <a:t>1 Twin-plant entrance stand = Fair testing   ·   2 Glowing-phone crowd = CV instead of loops   ·   3 Robot-puppy stand = Learning splits (RL)   ·   4 Plumbing stand = Max-pressure   ·   5 Broken-scale stand = Detector faults   ·   6 Exhaust-balloon stand = Stop weight K   ·   7 Fortune-teller tent = GLOSA prediction</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Numbers to remember</a:t>
            </a:r>
            <a:endParaRPr lang="en-US" sz="2400" dirty="0"/>
          </a:p>
        </p:txBody>
      </p:sp>
      <p:sp>
        <p:nvSpPr>
          <p:cNvPr id="3" name="Text 1"/>
          <p:cNvSpPr txBox="1"/>
          <p:nvPr/>
        </p:nvSpPr>
        <p:spPr>
          <a:xfrm>
            <a:off x="41148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SCOOT over seeds 7/8/9: 33.1 / 38.2 / 42.1 s (mean 37.8)</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CV delay: 43.7 / 37.6 / 33.9 / 27.5 / 26.3 s at 5-100%; loops 30.4</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RL agent 67.7 s vs SCOOT 37.8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Max-pressure 68.3 s (300 m), 224.4 s (120 m)</a:t>
            </a:r>
            <a:endParaRPr lang="en-US" sz="1500" dirty="0"/>
          </a:p>
        </p:txBody>
      </p:sp>
      <p:sp>
        <p:nvSpPr>
          <p:cNvPr id="4" name="Text 2"/>
          <p:cNvSpPr txBox="1"/>
          <p:nvPr/>
        </p:nvSpPr>
        <p:spPr>
          <a:xfrm>
            <a:off x="461772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Faults: 30.4 / 69.6 / 42.4 s; 13 of 40 failed; ~70% recovered</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K = 0, 4, 20, 40: ~30 s, 227-230 g; K = 12: 42 s, 244 g</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GLOSA MAE 1.3-2.6 s; p90 under 6 s</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nchor="ctr"/>
          <a:lstStyle/>
          <a:p>
            <a:pPr indent="0" marL="0">
              <a:buNone/>
            </a:pPr>
            <a:r>
              <a:rPr lang="en-US" sz="3400" b="1" dirty="0">
                <a:solidFill>
                  <a:schemeClr val="bg1"/>
                </a:solidFill>
              </a:rPr>
              <a:t>Keep going</a:t>
            </a: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nchor="t"/>
          <a:lstStyle/>
          <a:p>
            <a:pPr indent="0" marL="0">
              <a:buNone/>
            </a:pPr>
            <a:r>
              <a:rPr lang="en-US" sz="1600" dirty="0">
                <a:solidFill>
                  <a:schemeClr val="bg1"/>
                </a:solidFill>
              </a:rPr>
              <a:t>Study guide: SCOOT_Mastery_Study_Guide.pdf · Interactive labs and SUMO code: smrahmanbd.github.io/scoot-learning-lab</a:t>
            </a:r>
            <a:endParaRPr lang="en-US" sz="1600" dirty="0"/>
          </a:p>
        </p:txBody>
      </p:sp>
    </p:spTree>
  </p:cSld>
  <p:clrMapOvr>
    <a:masterClrMapping/>
  </p:clrMapOvr>
</p:sld>
</file>

<file path=ppt/theme/theme1.xml><?xml version="1.0" encoding="utf-8"?>
<a:theme xmlns:a="http://schemas.openxmlformats.org/drawingml/2006/main" name="SCOOT Learning Lab">
  <a:themeElements>
    <a:clrScheme name="SCOOT Learning Lab">
      <a:dk1>
        <a:srgbClr val="1A1A1A"/>
      </a:dk1>
      <a:lt1>
        <a:srgbClr val="FFFFFF"/>
      </a:lt1>
      <a:dk2>
        <a:srgbClr val="0D5A3A"/>
      </a:dk2>
      <a:lt2>
        <a:srgbClr val="EEF4F0"/>
      </a:lt2>
      <a:accent1>
        <a:srgbClr val="0D5A3A"/>
      </a:accent1>
      <a:accent2>
        <a:srgbClr val="D08A2C"/>
      </a:accent2>
      <a:accent3>
        <a:srgbClr val="8F3520"/>
      </a:accent3>
      <a:accent4>
        <a:srgbClr val="0B3954"/>
      </a:accent4>
      <a:accent5>
        <a:srgbClr val="3F3266"/>
      </a:accent5>
      <a:accent6>
        <a:srgbClr val="4FD18B"/>
      </a:accent6>
      <a:hlink>
        <a:srgbClr val="0B5CAD"/>
      </a:hlink>
      <a:folHlink>
        <a:srgbClr val="5A2F38"/>
      </a:folHlink>
    </a:clrScheme>
    <a:fontScheme name="SCOOT Learning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SCOOT Mastery</dc:title>
  <dc:subject>PptxGenJS Presentation</dc:subject>
  <dc:creator>SCOOT/SCATS Learning Lab</dc:creator>
  <cp:lastModifiedBy>SCOOT/SCATS Learning Lab</cp:lastModifiedBy>
  <cp:revision>1</cp:revision>
  <dcterms:created xsi:type="dcterms:W3CDTF">2026-10-25T17:12:54Z</dcterms:created>
  <dcterms:modified xsi:type="dcterms:W3CDTF">2026-10-25T17:12:54Z</dcterms:modified>
</cp:coreProperties>
</file>