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7.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2267d8a-8cea-650d-9c37-a8a501ab8464}">
          <p14:sldIdLst>
            <p14:sldId id="256"/>
            <p14:sldId id="257"/>
            <p14:sldId id="258"/>
            <p14:sldId id="259"/>
            <p14:sldId id="260"/>
          </p14:sldIdLst>
        </p14:section>
        <p14:section name="1. Regions" id="{ffa275b1-104c-8c9a-0e4d-f99e36dbd043}">
          <p14:sldIdLst>
            <p14:sldId id="261"/>
            <p14:sldId id="262"/>
            <p14:sldId id="263"/>
          </p14:sldIdLst>
        </p14:section>
        <p14:section name="2. Split optimiser" id="{ef178a17-af40-5932-47ef-789293c02a7e}">
          <p14:sldIdLst>
            <p14:sldId id="264"/>
            <p14:sldId id="265"/>
            <p14:sldId id="266"/>
          </p14:sldIdLst>
        </p14:section>
        <p14:section name="3. Offset optimiser" id="{332b5d11-3a23-5b9f-2d4c-d8e6e89e79ab}">
          <p14:sldIdLst>
            <p14:sldId id="267"/>
            <p14:sldId id="268"/>
            <p14:sldId id="269"/>
          </p14:sldIdLst>
        </p14:section>
        <p14:section name="4. Cycle optimiser" id="{5cf999ad-7f8d-e210-2159-cb5be4d983e7}">
          <p14:sldIdLst>
            <p14:sldId id="270"/>
            <p14:sldId id="271"/>
            <p14:sldId id="272"/>
          </p14:sldIdLst>
        </p14:section>
        <p14:section name="5. Congestion &amp; gating" id="{4b61faf8-a65f-c25c-5be6-f31f7a2a58cc}">
          <p14:sldIdLst>
            <p14:sldId id="273"/>
            <p14:sldId id="274"/>
            <p14:sldId id="275"/>
          </p14:sldIdLst>
        </p14:section>
        <p14:section name="6. Bus priority" id="{3c7b844e-f2b7-e381-c89d-012b9c5ef1a3}">
          <p14:sldIdLst>
            <p14:sldId id="276"/>
            <p14:sldId id="277"/>
            <p14:sldId id="278"/>
          </p14:sldIdLst>
        </p14:section>
        <p14:section name="7. Wider system" id="{206f7d2b-a977-1284-bda9-ec6724e33aba}">
          <p14:sldIdLst>
            <p14:sldId id="279"/>
            <p14:sldId id="280"/>
            <p14:sldId id="281"/>
          </p14:sldIdLst>
        </p14:section>
        <p14:section name="8. Full system" id="{b463bd41-d1a1-a542-1238-d0f7611411db}">
          <p14:sldIdLst>
            <p14:sldId id="282"/>
            <p14:sldId id="283"/>
            <p14:sldId id="284"/>
          </p14:sldIdLst>
        </p14:section>
        <p14:section name="Wrap-up" id="{32b94ba6-3287-e238-99c9-830179c613f7}">
          <p14:sldIdLst>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Average pedestrian wait against cycle length.</a:t>
            </a:r>
          </a:p>
        </c:rich>
      </c:tx>
      <c:layout/>
      <c:overlay val="0"/>
    </c:title>
    <c:autoTitleDeleted val="0"/>
    <c:plotArea>
      <c:layout/>
      <c:lineChart>
        <c:varyColors val="0"/>
        <c:ser>
          <c:idx val="0"/>
          <c:order val="0"/>
          <c:tx>
            <c:strRef>
              <c:f>Sheet1!$B$1</c:f>
              <c:strCache>
                <c:ptCount val="1"/>
                <c:pt idx="0">
                  <c:v>average wait (s)</c:v>
                </c:pt>
              </c:strCache>
            </c:strRef>
          </c:tx>
          <c:spPr>
            <a:solidFill>
              <a:srgbClr val="0D5A3A"/>
            </a:solidFill>
            <a:ln w="28575" cap="flat">
              <a:solidFill>
                <a:srgbClr val="0D5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5A3A"/>
              </a:solidFill>
              <a:ln w="9525" cap="flat">
                <a:solidFill>
                  <a:srgbClr val="0D5A3A"/>
                </a:solidFill>
                <a:prstDash val="solid"/>
                <a:round/>
              </a:ln>
              <a:effectLst/>
            </c:spPr>
          </c:marker>
          <c:cat>
            <c:multiLvlStrRef>
              <c:f>Sheet1!$A$2:$A$10</c:f>
              <c:multiLvlStrCache>
                <c:ptCount val="9"/>
                <c:lvl>
                  <c:pt idx="0">
                    <c:v>40</c:v>
                  </c:pt>
                  <c:pt idx="1">
                    <c:v>50</c:v>
                  </c:pt>
                  <c:pt idx="2">
                    <c:v>60</c:v>
                  </c:pt>
                  <c:pt idx="3">
                    <c:v>70</c:v>
                  </c:pt>
                  <c:pt idx="4">
                    <c:v>80</c:v>
                  </c:pt>
                  <c:pt idx="5">
                    <c:v>90</c:v>
                  </c:pt>
                  <c:pt idx="6">
                    <c:v>100</c:v>
                  </c:pt>
                  <c:pt idx="7">
                    <c:v>110</c:v>
                  </c:pt>
                  <c:pt idx="8">
                    <c:v>120</c:v>
                  </c:pt>
                </c:lvl>
              </c:multiLvlStrCache>
            </c:multiLvlStrRef>
          </c:cat>
          <c:val>
            <c:numRef>
              <c:f>Sheet1!$B$2:$B$10</c:f>
              <c:numCache>
                <c:formatCode>General</c:formatCode>
                <c:ptCount val="9"/>
                <c:pt idx="0">
                  <c:v>12.8</c:v>
                </c:pt>
                <c:pt idx="1">
                  <c:v>17.6</c:v>
                </c:pt>
                <c:pt idx="2">
                  <c:v>22.5</c:v>
                </c:pt>
                <c:pt idx="3">
                  <c:v>27.5</c:v>
                </c:pt>
                <c:pt idx="4">
                  <c:v>32.4</c:v>
                </c:pt>
                <c:pt idx="5">
                  <c:v>37.4</c:v>
                </c:pt>
                <c:pt idx="6">
                  <c:v>42.3</c:v>
                </c:pt>
                <c:pt idx="7">
                  <c:v>47.3</c:v>
                </c:pt>
                <c:pt idx="8">
                  <c:v>52.3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cycle length C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2"/>
      </c:catAx>
      <c:valAx>
        <c:axId val="2094734552"/>
        <c:scaling>
          <c:orientation val="minMax"/>
          <c:max val="60"/>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average pedestrian wait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Highest DoS for each option in the worked example.</a:t>
            </a:r>
          </a:p>
        </c:rich>
      </c:tx>
      <c:layout/>
      <c:overlay val="0"/>
    </c:title>
    <c:autoTitleDeleted val="0"/>
    <c:plotArea>
      <c:layout/>
      <c:barChart>
        <c:barDir val="col"/>
        <c:grouping val="clustered"/>
        <c:varyColors val="0"/>
        <c:ser>
          <c:idx val="0"/>
          <c:order val="0"/>
          <c:tx>
            <c:strRef>
              <c:f>Sheet1!$B$1</c:f>
              <c:strCache>
                <c:ptCount val="1"/>
                <c:pt idx="0">
                  <c:v>highest DoS in the two stages</c:v>
                </c:pt>
              </c:strCache>
            </c:strRef>
          </c:tx>
          <c:spPr>
            <a:solidFill>
              <a:srgbClr val="04505A"/>
            </a:solidFill>
            <a:effectLst/>
          </c:spPr>
          <c:invertIfNegative val="0"/>
          <c:dLbls>
            <c:numFmt formatCode="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−4 s (earlier)</c:v>
                  </c:pt>
                  <c:pt idx="1">
                    <c:v>0 (keep)</c:v>
                  </c:pt>
                  <c:pt idx="2">
                    <c:v>+4 s (later)</c:v>
                  </c:pt>
                </c:lvl>
              </c:multiLvlStrCache>
            </c:multiLvlStrRef>
          </c:cat>
          <c:val>
            <c:numRef>
              <c:f>Sheet1!$B$2:$B$4</c:f>
              <c:numCache>
                <c:formatCode>General</c:formatCode>
                <c:ptCount val="3"/>
                <c:pt idx="0">
                  <c:v>0.92</c:v>
                </c:pt>
                <c:pt idx="1">
                  <c:v>0.8</c:v>
                </c:pt>
                <c:pt idx="2">
                  <c:v>0.71</c:v>
                </c:pt>
              </c:numCache>
            </c:numRef>
          </c:val>
        </c:ser>
        <c:dLbls>
          <c:numFmt formatCode="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highest DoS in the two stages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Model PI for every possible offset between two nodes.</a:t>
            </a:r>
          </a:p>
        </c:rich>
      </c:tx>
      <c:layout/>
      <c:overlay val="0"/>
    </c:title>
    <c:autoTitleDeleted val="0"/>
    <c:plotArea>
      <c:layout/>
      <c:lineChart>
        <c:varyColors val="0"/>
        <c:ser>
          <c:idx val="0"/>
          <c:order val="0"/>
          <c:tx>
            <c:strRef>
              <c:f>Sheet1!$B$1</c:f>
              <c:strCache>
                <c:ptCount val="1"/>
                <c:pt idx="0">
                  <c:v>PI (model units)</c:v>
                </c:pt>
              </c:strCache>
            </c:strRef>
          </c:tx>
          <c:spPr>
            <a:solidFill>
              <a:srgbClr val="0D5A3A"/>
            </a:solidFill>
            <a:ln w="28575" cap="flat">
              <a:solidFill>
                <a:srgbClr val="0D5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5A3A"/>
              </a:solidFill>
              <a:ln w="9525" cap="flat">
                <a:solidFill>
                  <a:srgbClr val="0D5A3A"/>
                </a:solidFill>
                <a:prstDash val="solid"/>
                <a:round/>
              </a:ln>
              <a:effectLst/>
            </c:spPr>
          </c:marker>
          <c:cat>
            <c:multiLvlStrRef>
              <c:f>Sheet1!$A$2:$A$31</c:f>
              <c:multiLvlStrCache>
                <c:ptCount val="30"/>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lvl>
              </c:multiLvlStrCache>
            </c:multiLvlStrRef>
          </c:cat>
          <c:val>
            <c:numRef>
              <c:f>Sheet1!$B$2:$B$31</c:f>
              <c:numCache>
                <c:formatCode>General</c:formatCode>
                <c:ptCount val="30"/>
                <c:pt idx="0">
                  <c:v>342.8</c:v>
                </c:pt>
                <c:pt idx="1">
                  <c:v>316.9</c:v>
                </c:pt>
                <c:pt idx="2">
                  <c:v>289.2</c:v>
                </c:pt>
                <c:pt idx="3">
                  <c:v>260.2</c:v>
                </c:pt>
                <c:pt idx="4">
                  <c:v>230</c:v>
                </c:pt>
                <c:pt idx="5">
                  <c:v>199</c:v>
                </c:pt>
                <c:pt idx="6">
                  <c:v>167.1</c:v>
                </c:pt>
                <c:pt idx="7">
                  <c:v>136.1</c:v>
                </c:pt>
                <c:pt idx="8">
                  <c:v>111.7</c:v>
                </c:pt>
                <c:pt idx="9">
                  <c:v>99.9</c:v>
                </c:pt>
                <c:pt idx="10">
                  <c:v>93.9</c:v>
                </c:pt>
                <c:pt idx="11">
                  <c:v>98.9</c:v>
                </c:pt>
                <c:pt idx="12">
                  <c:v>108.3</c:v>
                </c:pt>
                <c:pt idx="13">
                  <c:v>126.3</c:v>
                </c:pt>
                <c:pt idx="14">
                  <c:v>152.8</c:v>
                </c:pt>
                <c:pt idx="15">
                  <c:v>182</c:v>
                </c:pt>
                <c:pt idx="16">
                  <c:v>210.8</c:v>
                </c:pt>
                <c:pt idx="17">
                  <c:v>239.9</c:v>
                </c:pt>
                <c:pt idx="18">
                  <c:v>270.7</c:v>
                </c:pt>
                <c:pt idx="19">
                  <c:v>301.6</c:v>
                </c:pt>
                <c:pt idx="20">
                  <c:v>333.1</c:v>
                </c:pt>
                <c:pt idx="21">
                  <c:v>364.9</c:v>
                </c:pt>
                <c:pt idx="22">
                  <c:v>397.1</c:v>
                </c:pt>
                <c:pt idx="23">
                  <c:v>418</c:v>
                </c:pt>
                <c:pt idx="24">
                  <c:v>426.8</c:v>
                </c:pt>
                <c:pt idx="25">
                  <c:v>426.1</c:v>
                </c:pt>
                <c:pt idx="26">
                  <c:v>418.3</c:v>
                </c:pt>
                <c:pt idx="27">
                  <c:v>404.9</c:v>
                </c:pt>
                <c:pt idx="28">
                  <c:v>387.4</c:v>
                </c:pt>
                <c:pt idx="29">
                  <c:v>366.4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offset of the downstream node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5"/>
      </c:catAx>
      <c:valAx>
        <c:axId val="2094734552"/>
        <c:scaling>
          <c:orientation val="minMax"/>
          <c:max val="480"/>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performance index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The cycle optimiser through a peak.</a:t>
            </a:r>
          </a:p>
        </c:rich>
      </c:tx>
      <c:layout/>
      <c:overlay val="0"/>
    </c:title>
    <c:autoTitleDeleted val="0"/>
    <c:plotArea>
      <c:layout/>
      <c:lineChart>
        <c:varyColors val="0"/>
        <c:ser>
          <c:idx val="0"/>
          <c:order val="0"/>
          <c:tx>
            <c:strRef>
              <c:f>Sheet1!$B$1</c:f>
              <c:strCache>
                <c:ptCount val="1"/>
                <c:pt idx="0">
                  <c:v>cycle (s)</c:v>
                </c:pt>
              </c:strCache>
            </c:strRef>
          </c:tx>
          <c:spPr>
            <a:solidFill>
              <a:srgbClr val="0D5A3A"/>
            </a:solidFill>
            <a:ln w="28575" cap="flat">
              <a:solidFill>
                <a:srgbClr val="0D5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5A3A"/>
              </a:solidFill>
              <a:ln w="9525" cap="flat">
                <a:solidFill>
                  <a:srgbClr val="0D5A3A"/>
                </a:solidFill>
                <a:prstDash val="solid"/>
                <a:round/>
              </a:ln>
              <a:effectLst/>
            </c:spPr>
          </c:marker>
          <c:cat>
            <c:multiLvlStrRef>
              <c:f>Sheet1!$A$2:$A$31</c:f>
              <c:multiLvlStrCache>
                <c:ptCount val="30"/>
                <c:lvl>
                  <c:pt idx="0">
                    <c:v>0</c:v>
                  </c:pt>
                  <c:pt idx="1">
                    <c:v>2.5</c:v>
                  </c:pt>
                  <c:pt idx="2">
                    <c:v>5</c:v>
                  </c:pt>
                  <c:pt idx="3">
                    <c:v>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lvl>
              </c:multiLvlStrCache>
            </c:multiLvlStrRef>
          </c:cat>
          <c:val>
            <c:numRef>
              <c:f>Sheet1!$B$2:$B$31</c:f>
              <c:numCache>
                <c:formatCode>General</c:formatCode>
                <c:ptCount val="30"/>
                <c:pt idx="0">
                  <c:v>48</c:v>
                </c:pt>
                <c:pt idx="1">
                  <c:v>44</c:v>
                </c:pt>
                <c:pt idx="2">
                  <c:v>44</c:v>
                </c:pt>
                <c:pt idx="3">
                  <c:v>40</c:v>
                </c:pt>
                <c:pt idx="4">
                  <c:v>40</c:v>
                </c:pt>
                <c:pt idx="5">
                  <c:v>40</c:v>
                </c:pt>
                <c:pt idx="6">
                  <c:v>40</c:v>
                </c:pt>
                <c:pt idx="7">
                  <c:v>40</c:v>
                </c:pt>
                <c:pt idx="8">
                  <c:v>40</c:v>
                </c:pt>
                <c:pt idx="9">
                  <c:v>44</c:v>
                </c:pt>
                <c:pt idx="10">
                  <c:v>48</c:v>
                </c:pt>
                <c:pt idx="11">
                  <c:v>52</c:v>
                </c:pt>
                <c:pt idx="12">
                  <c:v>56</c:v>
                </c:pt>
                <c:pt idx="13">
                  <c:v>60</c:v>
                </c:pt>
                <c:pt idx="14">
                  <c:v>64</c:v>
                </c:pt>
                <c:pt idx="15">
                  <c:v>72</c:v>
                </c:pt>
                <c:pt idx="16">
                  <c:v>80</c:v>
                </c:pt>
                <c:pt idx="17">
                  <c:v>88</c:v>
                </c:pt>
                <c:pt idx="18">
                  <c:v>88</c:v>
                </c:pt>
                <c:pt idx="19">
                  <c:v>88</c:v>
                </c:pt>
                <c:pt idx="20">
                  <c:v>80</c:v>
                </c:pt>
                <c:pt idx="21">
                  <c:v>80</c:v>
                </c:pt>
                <c:pt idx="22">
                  <c:v>72</c:v>
                </c:pt>
                <c:pt idx="23">
                  <c:v>72</c:v>
                </c:pt>
                <c:pt idx="24">
                  <c:v>64</c:v>
                </c:pt>
                <c:pt idx="25">
                  <c:v>64</c:v>
                </c:pt>
                <c:pt idx="26">
                  <c:v>60</c:v>
                </c:pt>
                <c:pt idx="27">
                  <c:v>60</c:v>
                </c:pt>
                <c:pt idx="28">
                  <c:v>56</c:v>
                </c:pt>
                <c:pt idx="29">
                  <c:v>56</c:v>
                </c:pt>
              </c:numCache>
            </c:numRef>
          </c:val>
          <c:smooth val="0"/>
        </c:ser>
        <c:ser>
          <c:idx val="1"/>
          <c:order val="1"/>
          <c:tx>
            <c:strRef>
              <c:f>Sheet1!$C$1</c:f>
              <c:strCache>
                <c:ptCount val="1"/>
                <c:pt idx="0">
                  <c:v>critical DoS × 100</c:v>
                </c:pt>
              </c:strCache>
            </c:strRef>
          </c:tx>
          <c:spPr>
            <a:solidFill>
              <a:srgbClr val="D08A2C"/>
            </a:solidFill>
            <a:ln w="28575" cap="flat">
              <a:solidFill>
                <a:srgbClr val="D08A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08A2C"/>
              </a:solidFill>
              <a:ln w="9525" cap="flat">
                <a:solidFill>
                  <a:srgbClr val="D08A2C"/>
                </a:solidFill>
                <a:prstDash val="solid"/>
                <a:round/>
              </a:ln>
              <a:effectLst/>
            </c:spPr>
          </c:marker>
          <c:cat>
            <c:multiLvlStrRef>
              <c:f>Sheet1!$A$2:$A$31</c:f>
              <c:multiLvlStrCache>
                <c:ptCount val="30"/>
                <c:lvl>
                  <c:pt idx="0">
                    <c:v>0</c:v>
                  </c:pt>
                  <c:pt idx="1">
                    <c:v>2.5</c:v>
                  </c:pt>
                  <c:pt idx="2">
                    <c:v>5</c:v>
                  </c:pt>
                  <c:pt idx="3">
                    <c:v>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lvl>
              </c:multiLvlStrCache>
            </c:multiLvlStrRef>
          </c:cat>
          <c:val>
            <c:numRef>
              <c:f>Sheet1!$C$2:$C$31</c:f>
              <c:numCache>
                <c:formatCode>General</c:formatCode>
                <c:ptCount val="30"/>
                <c:pt idx="0">
                  <c:v>60</c:v>
                </c:pt>
                <c:pt idx="1">
                  <c:v>61.9</c:v>
                </c:pt>
                <c:pt idx="2">
                  <c:v>61.9</c:v>
                </c:pt>
                <c:pt idx="3">
                  <c:v>64.3</c:v>
                </c:pt>
                <c:pt idx="4">
                  <c:v>64.3</c:v>
                </c:pt>
                <c:pt idx="5">
                  <c:v>76.1</c:v>
                </c:pt>
                <c:pt idx="6">
                  <c:v>87.9</c:v>
                </c:pt>
                <c:pt idx="7">
                  <c:v>99.6</c:v>
                </c:pt>
                <c:pt idx="8">
                  <c:v>111.4</c:v>
                </c:pt>
                <c:pt idx="9">
                  <c:v>107.2</c:v>
                </c:pt>
                <c:pt idx="10">
                  <c:v>104</c:v>
                </c:pt>
                <c:pt idx="11">
                  <c:v>101.4</c:v>
                </c:pt>
                <c:pt idx="12">
                  <c:v>99.3</c:v>
                </c:pt>
                <c:pt idx="13">
                  <c:v>97.5</c:v>
                </c:pt>
                <c:pt idx="14">
                  <c:v>96</c:v>
                </c:pt>
                <c:pt idx="15">
                  <c:v>93.6</c:v>
                </c:pt>
                <c:pt idx="16">
                  <c:v>91.8</c:v>
                </c:pt>
                <c:pt idx="17">
                  <c:v>80.8</c:v>
                </c:pt>
                <c:pt idx="18">
                  <c:v>71.2</c:v>
                </c:pt>
                <c:pt idx="19">
                  <c:v>61.7</c:v>
                </c:pt>
                <c:pt idx="20">
                  <c:v>52.9</c:v>
                </c:pt>
                <c:pt idx="21">
                  <c:v>52.9</c:v>
                </c:pt>
                <c:pt idx="22">
                  <c:v>54</c:v>
                </c:pt>
                <c:pt idx="23">
                  <c:v>54</c:v>
                </c:pt>
                <c:pt idx="24">
                  <c:v>55.4</c:v>
                </c:pt>
                <c:pt idx="25">
                  <c:v>55.4</c:v>
                </c:pt>
                <c:pt idx="26">
                  <c:v>56.2</c:v>
                </c:pt>
                <c:pt idx="27">
                  <c:v>56.2</c:v>
                </c:pt>
                <c:pt idx="28">
                  <c:v>57.3</c:v>
                </c:pt>
                <c:pt idx="29">
                  <c:v>57.3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time (minutes)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5"/>
      </c:catAx>
      <c:valAx>
        <c:axId val="2094734552"/>
        <c:scaling>
          <c:orientation val="minMax"/>
          <c:max val="125"/>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seconds / DoS × 100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Weighted DoS as congestion grows (plain DoS 0.80).</a:t>
            </a:r>
          </a:p>
        </c:rich>
      </c:tx>
      <c:layout/>
      <c:overlay val="0"/>
    </c:title>
    <c:autoTitleDeleted val="0"/>
    <c:plotArea>
      <c:layout/>
      <c:lineChart>
        <c:varyColors val="0"/>
        <c:ser>
          <c:idx val="0"/>
          <c:order val="0"/>
          <c:tx>
            <c:strRef>
              <c:f>Sheet1!$B$1</c:f>
              <c:strCache>
                <c:ptCount val="1"/>
                <c:pt idx="0">
                  <c:v>importance 0</c:v>
                </c:pt>
              </c:strCache>
            </c:strRef>
          </c:tx>
          <c:spPr>
            <a:solidFill>
              <a:srgbClr val="0D5A3A"/>
            </a:solidFill>
            <a:ln w="28575" cap="flat">
              <a:solidFill>
                <a:srgbClr val="0D5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5A3A"/>
              </a:solidFill>
              <a:ln w="9525" cap="flat">
                <a:solidFill>
                  <a:srgbClr val="0D5A3A"/>
                </a:solidFill>
                <a:prstDash val="solid"/>
                <a:round/>
              </a:ln>
              <a:effectLst/>
            </c:spPr>
          </c:marker>
          <c:cat>
            <c:multiLvlStrRef>
              <c:f>Sheet1!$A$2:$A$7</c:f>
              <c:multiLvlStrCache>
                <c:ptCount val="6"/>
                <c:lvl>
                  <c:pt idx="0">
                    <c:v>0</c:v>
                  </c:pt>
                  <c:pt idx="1">
                    <c:v>0.1</c:v>
                  </c:pt>
                  <c:pt idx="2">
                    <c:v>0.2</c:v>
                  </c:pt>
                  <c:pt idx="3">
                    <c:v>0.3</c:v>
                  </c:pt>
                  <c:pt idx="4">
                    <c:v>0.4</c:v>
                  </c:pt>
                  <c:pt idx="5">
                    <c:v>0.5</c:v>
                  </c:pt>
                </c:lvl>
              </c:multiLvlStrCache>
            </c:multiLvlStrRef>
          </c:cat>
          <c:val>
            <c:numRef>
              <c:f>Sheet1!$B$2:$B$7</c:f>
              <c:numCache>
                <c:formatCode>General</c:formatCode>
                <c:ptCount val="6"/>
                <c:pt idx="0">
                  <c:v>0.8</c:v>
                </c:pt>
                <c:pt idx="1">
                  <c:v>0.8</c:v>
                </c:pt>
                <c:pt idx="2">
                  <c:v>0.8</c:v>
                </c:pt>
                <c:pt idx="3">
                  <c:v>0.8</c:v>
                </c:pt>
                <c:pt idx="4">
                  <c:v>0.8</c:v>
                </c:pt>
                <c:pt idx="5">
                  <c:v>0.8</c:v>
                </c:pt>
              </c:numCache>
            </c:numRef>
          </c:val>
          <c:smooth val="0"/>
        </c:ser>
        <c:ser>
          <c:idx val="1"/>
          <c:order val="1"/>
          <c:tx>
            <c:strRef>
              <c:f>Sheet1!$C$1</c:f>
              <c:strCache>
                <c:ptCount val="1"/>
                <c:pt idx="0">
                  <c:v>importance 1</c:v>
                </c:pt>
              </c:strCache>
            </c:strRef>
          </c:tx>
          <c:spPr>
            <a:solidFill>
              <a:srgbClr val="D08A2C"/>
            </a:solidFill>
            <a:ln w="28575" cap="flat">
              <a:solidFill>
                <a:srgbClr val="D08A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08A2C"/>
              </a:solidFill>
              <a:ln w="9525" cap="flat">
                <a:solidFill>
                  <a:srgbClr val="D08A2C"/>
                </a:solidFill>
                <a:prstDash val="solid"/>
                <a:round/>
              </a:ln>
              <a:effectLst/>
            </c:spPr>
          </c:marker>
          <c:cat>
            <c:multiLvlStrRef>
              <c:f>Sheet1!$A$2:$A$7</c:f>
              <c:multiLvlStrCache>
                <c:ptCount val="6"/>
                <c:lvl>
                  <c:pt idx="0">
                    <c:v>0</c:v>
                  </c:pt>
                  <c:pt idx="1">
                    <c:v>0.1</c:v>
                  </c:pt>
                  <c:pt idx="2">
                    <c:v>0.2</c:v>
                  </c:pt>
                  <c:pt idx="3">
                    <c:v>0.3</c:v>
                  </c:pt>
                  <c:pt idx="4">
                    <c:v>0.4</c:v>
                  </c:pt>
                  <c:pt idx="5">
                    <c:v>0.5</c:v>
                  </c:pt>
                </c:lvl>
              </c:multiLvlStrCache>
            </c:multiLvlStrRef>
          </c:cat>
          <c:val>
            <c:numRef>
              <c:f>Sheet1!$C$2:$C$7</c:f>
              <c:numCache>
                <c:formatCode>General</c:formatCode>
                <c:ptCount val="6"/>
                <c:pt idx="0">
                  <c:v>0.8</c:v>
                </c:pt>
                <c:pt idx="1">
                  <c:v>0.88</c:v>
                </c:pt>
                <c:pt idx="2">
                  <c:v>0.96</c:v>
                </c:pt>
                <c:pt idx="3">
                  <c:v>1.04</c:v>
                </c:pt>
                <c:pt idx="4">
                  <c:v>1.12</c:v>
                </c:pt>
                <c:pt idx="5">
                  <c:v>1.2</c:v>
                </c:pt>
              </c:numCache>
            </c:numRef>
          </c:val>
          <c:smooth val="0"/>
        </c:ser>
        <c:ser>
          <c:idx val="2"/>
          <c:order val="2"/>
          <c:tx>
            <c:strRef>
              <c:f>Sheet1!$D$1</c:f>
              <c:strCache>
                <c:ptCount val="1"/>
                <c:pt idx="0">
                  <c:v>importance 2</c:v>
                </c:pt>
              </c:strCache>
            </c:strRef>
          </c:tx>
          <c:spPr>
            <a:solidFill>
              <a:srgbClr val="8F3520"/>
            </a:solidFill>
            <a:ln w="28575" cap="flat">
              <a:solidFill>
                <a:srgbClr val="8F352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F3520"/>
              </a:solidFill>
              <a:ln w="9525" cap="flat">
                <a:solidFill>
                  <a:srgbClr val="8F3520"/>
                </a:solidFill>
                <a:prstDash val="solid"/>
                <a:round/>
              </a:ln>
              <a:effectLst/>
            </c:spPr>
          </c:marker>
          <c:cat>
            <c:multiLvlStrRef>
              <c:f>Sheet1!$A$2:$A$7</c:f>
              <c:multiLvlStrCache>
                <c:ptCount val="6"/>
                <c:lvl>
                  <c:pt idx="0">
                    <c:v>0</c:v>
                  </c:pt>
                  <c:pt idx="1">
                    <c:v>0.1</c:v>
                  </c:pt>
                  <c:pt idx="2">
                    <c:v>0.2</c:v>
                  </c:pt>
                  <c:pt idx="3">
                    <c:v>0.3</c:v>
                  </c:pt>
                  <c:pt idx="4">
                    <c:v>0.4</c:v>
                  </c:pt>
                  <c:pt idx="5">
                    <c:v>0.5</c:v>
                  </c:pt>
                </c:lvl>
              </c:multiLvlStrCache>
            </c:multiLvlStrRef>
          </c:cat>
          <c:val>
            <c:numRef>
              <c:f>Sheet1!$D$2:$D$7</c:f>
              <c:numCache>
                <c:formatCode>General</c:formatCode>
                <c:ptCount val="6"/>
                <c:pt idx="0">
                  <c:v>0.8</c:v>
                </c:pt>
                <c:pt idx="1">
                  <c:v>0.96</c:v>
                </c:pt>
                <c:pt idx="2">
                  <c:v>1.12</c:v>
                </c:pt>
                <c:pt idx="3">
                  <c:v>1.28</c:v>
                </c:pt>
                <c:pt idx="4">
                  <c:v>1.44</c:v>
                </c:pt>
                <c:pt idx="5">
                  <c:v>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congestion f (share of cycle detector is blocked)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1"/>
      </c:catAx>
      <c:valAx>
        <c:axId val="2094734552"/>
        <c:scaling>
          <c:orientation val="minMax"/>
          <c:max val="1.75"/>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weighted DoS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Mean bus delay on the SUMO region (Lab A1 and A2).</a:t>
            </a:r>
          </a:p>
        </c:rich>
      </c:tx>
      <c:layout/>
      <c:overlay val="0"/>
    </c:title>
    <c:autoTitleDeleted val="0"/>
    <c:plotArea>
      <c:layout/>
      <c:barChart>
        <c:barDir val="col"/>
        <c:grouping val="clustered"/>
        <c:varyColors val="0"/>
        <c:ser>
          <c:idx val="0"/>
          <c:order val="0"/>
          <c:tx>
            <c:strRef>
              <c:f>Sheet1!$B$1</c:f>
              <c:strCache>
                <c:ptCount val="1"/>
                <c:pt idx="0">
                  <c:v>mean bus delay (s)</c:v>
                </c:pt>
              </c:strCache>
            </c:strRef>
          </c:tx>
          <c:spPr>
            <a:solidFill>
              <a:srgbClr val="5A2F38"/>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Fixed time</c:v>
                  </c:pt>
                  <c:pt idx="1">
                    <c:v>Actuated</c:v>
                  </c:pt>
                  <c:pt idx="2">
                    <c:v>SCOOT, no priority</c:v>
                  </c:pt>
                  <c:pt idx="3">
                    <c:v>SCOOT with priority</c:v>
                  </c:pt>
                </c:lvl>
              </c:multiLvlStrCache>
            </c:multiLvlStrRef>
          </c:cat>
          <c:val>
            <c:numRef>
              <c:f>Sheet1!$B$2:$B$5</c:f>
              <c:numCache>
                <c:formatCode>General</c:formatCode>
                <c:ptCount val="4"/>
                <c:pt idx="0">
                  <c:v>122.2</c:v>
                </c:pt>
                <c:pt idx="1">
                  <c:v>38</c:v>
                </c:pt>
                <c:pt idx="2">
                  <c:v>34.7</c:v>
                </c:pt>
                <c:pt idx="3">
                  <c:v>22.9</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bus delay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Ablation (Lab A2): mean delay with one mechanism removed.</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4A4A5A"/>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Sheet1!$A$2:$A$8</c:f>
              <c:multiLvlStrCache>
                <c:ptCount val="7"/>
                <c:lvl>
                  <c:pt idx="0">
                    <c:v>Full SCOOT</c:v>
                  </c:pt>
                  <c:pt idx="1">
                    <c:v>No split</c:v>
                  </c:pt>
                  <c:pt idx="2">
                    <c:v>No offset</c:v>
                  </c:pt>
                  <c:pt idx="3">
                    <c:v>No cycle</c:v>
                  </c:pt>
                  <c:pt idx="4">
                    <c:v>No congestion</c:v>
                  </c:pt>
                  <c:pt idx="5">
                    <c:v>No bus priority</c:v>
                  </c:pt>
                  <c:pt idx="6">
                    <c:v>Two regions</c:v>
                  </c:pt>
                </c:lvl>
              </c:multiLvlStrCache>
            </c:multiLvlStrRef>
          </c:cat>
          <c:val>
            <c:numRef>
              <c:f>Sheet1!$B$2:$B$8</c:f>
              <c:numCache>
                <c:formatCode>General</c:formatCode>
                <c:ptCount val="7"/>
                <c:pt idx="0">
                  <c:v>30.4</c:v>
                </c:pt>
                <c:pt idx="1">
                  <c:v>77.3</c:v>
                </c:pt>
                <c:pt idx="2">
                  <c:v>39.7</c:v>
                </c:pt>
                <c:pt idx="3">
                  <c:v>26.8</c:v>
                </c:pt>
                <c:pt idx="4">
                  <c:v>30.4</c:v>
                </c:pt>
                <c:pt idx="5">
                  <c:v>33.4</c:v>
                </c:pt>
                <c:pt idx="6">
                  <c:v>29.5</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continues from the Foundation guide. There you built SCOOT's model of one link: LPUs, profiles, the queue and the degree of saturation (DoS). Here you will see how SCOOT uses that model to make decisions for a whole group of junctions. You still need only school maths. There are eight ideas; each one is a small, simple rule, and the power comes from running all of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for today:
- Explain what a SCOOT region is and when a node may be double cycled.
- Run the split optimiser by hand: compare −4, 0 and +4 s by the highest DoS.
- Run the offset optimiser by hand: step ±4 s towards the lowest performance index.
- Apply the cycle optimiser's rules (90% target, 4/8/16 s steps) through a peak.
- Explain congestion importance, exit blocking and gating, and when each helps.
- Choose between a bus extension and a recall, and work out the time saved.
- Name ASTRID, INGRID and the main later SCOOT features and what they do.
- Read the SUMO comparison and ablation results honestly, including the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memorise these now; each is explained again when it first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is one idea; arrows say how one feeds the next. one cycle per region; same model; DoS drives both; adjust the greens; data &amp; detection; all run together; tested on SUMO.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busy junction needs a long cycle. A quiet pedestrian crossing next to it does not. If they must share one cycle to stay coordinated, do pedestrians have to wait as long as the busy junction's traffic?
A region is a group of nodes (junctions and crossings) that all run on one common cycle time. A shared cycle is what makes offsets meaningful: if two junctions have different cycles, their greens drift apart and no green wave can last.
Region boundaries are drawn by the engineer where roads between junctions are long enough that coordination stops mattering. Unlike SCATS, SCOOT does not join or split regions on line; the boundaries are part of the design.
A lightly loaded node, often a pedestrian crossing, can be double cycled: it runs two of its own cycles for every region cycle. Pedestrians wait about half as long, and the node still keeps step with its neighbours. SCOOT allows it only if the node's DoS stays at or below its target at the shorter cycle.
Presenter tip: Use the orchestra image. Point out that region boundaries are a design decision in SCOOT, a contrast with SCATS marriage and divorce.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pedestrian wait against cycle length. What to notice: the wait grows almost in step with the cycle, so halving the cycle roughly halves the wait. Computed from (C − 8)² ÷ 2C with an 8 s pedestrian green (illustrative).
Try it with the audience: A crossing in a 120 s region has a 10 s pedestrian green. Find the average pedestrian wait at 120 s and at 60 s.
Answer: At 120 s: (120 − 10)² ÷ 240 = 12100 ÷ 240 = 50.4 s. At 60 s: (60 − 10)² ÷ 120 = 2500 ÷ 120 = 20.8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One metronome = one region cycle; the marching players = nodes; the triangle player's two steps per tick = double cycling.
Recap: Regions: nodes in a region share one cycle so offsets work; a quiet node may double cycle if its DoS stays ≤ 90% at half the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every stage change SCOOT asks the simplest question imaginable: change now, 4 seconds earlier, or 4 seconds later? Why is such a tiny question enough?
A few seconds before every scheduled stage change, the split optimiser tries three options in the model: make the change 4 s earlier (the ending stage loses 4 s), on time, or 4 s later (the ending stage gains 4 s). Options that would break a minimum green are skipped.
For each option it predicts the DoS of every link in the ending stage and in the starting stage. The winner is the option whose highest DoS is lowest. In other words, it protects the link that is closest to overflowing.
The winning move is a temporary change: it applies to this cycle only. A permanent change of 1 s in the same direction is stored in the plan, so the plan drifts slowly towards the right split without overreacting to one noisy cycle.
Presenter tip: Run the example on the board as a three-row table. Emphasise the min-max rule: protect the worst link. Mention 747 of 846 keeps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DoS for each option in the worked example. What to notice: the optimiser does not look for the lowest delay here, only for the option that keeps the worst link furthest from overflowing. Values from the worked example.
Try it with the audience: Same junction, but demand is A 18 LPU and B 16 LPU per cycle (A 30 s, B 20 s now). Which option wins, and what happens to the stored green A?
Answer: −4: 18/26 = 0.69, 16/24 = 0.67 → 0.69. 0: 0.60, 0.80 → 0.80. +4: 18/34 = 0.53, 16/16 = 1.00 → 1.00. −4 wins (change 4 s earlier); stored green A drops to 29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The 4 kg bag = the ±4 s temporary change; the glued 1 kg = the ±1 s permanent change; the shrug = 'keep', the most common decision.
Recap: Split optimiser: before each stage change try −4/0/+4 s, pick the lowest highest DoS; temporary ±4 s, permanent ±1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green wave needs each junction to turn green just as the platoon from the previous one arrives. SCOOT finds that moment without ever being told the distance or the speed. How?
The offset is when a node's cycle starts compared with the region's reference. Once per cycle, at a fixed point in each node's cycle, the offset optimiser asks: should this whole node run 4 s earlier, on time, or 4 s later?
For each option SCOOT re-runs its queue model on every link into the node and every link out of it to a neighbour, using the cyclic flow profiles from the Foundation guide. It adds up the performance index (PI = delay + K × stops) and keeps the option with the lowest total.
Because the step is small and taken every cycle, the offset 'walks downhill' on the PI curve to a good coordination and keeps tracking it as traffic changes. In our worked example the platoon takes about 22 s to travel 300 m, and the best offset turns out to be about 20 s.
Presenter tip: Draw the valley and walk a coin down it in 4 s steps. Make the point that SCOOT never needs the distance: the profiles carry that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PI for every possible offset between two nodes. What to notice: one clear valley near 20 s, about the platoon's travel time. SCOOT only ever looks 4 s either side of where it is. Computed with this lab's Robertson dispersion and queue model (0.6 LPU/s platoon, 30 s greens, SATO 1.0, K = 4).
Try it with the audience: Using the PI values in the worked example, where does the offset end up if it starts at 24 s?
Answer: At 24: options 20/24/28 give 94/108/153 → move to 20 s. At 20: 112/94/108 → keep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The drummers = two nodes; shuffling 4 steps = the ±4 s offset change; the noise meter = PI; stopping at the lowest = the valley of the PI curve.
Recap: Offset optimiser: once per cycle per node, try −4/0/+4 s, pick the lowest PI on links in and out; walks downhill to a green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Longer cycles give more capacity but make everyone wait longer at red. How does SCOOT decide when the whole region should switch to a longer or shorter cycle?
Every 5 minutes (every 2.5 minutes while the cycle is going up) the cycle optimiser reviews the whole region. It finds the critical node: the junction whose busiest link needs the longest cycle.
The rule is simple. If the critical node's DoS is above about 90%, the cycle goes up. If every link is comfortably below target (this lab uses 80%), the cycle comes down. In between it holds. Steps are 4, 8 or 16 s, bigger at longer cycles, always within the region's minimum and maximum.
Why does a longer cycle help? Each stage change wastes some lost time L. In a cycle C only C − L seconds are useful green. A longer cycle makes L a smaller share, so the same flow ratio Y gives a lower DoS.
Presenter tip: Show why C/(C − L) falls as C grows. Then connect to the ablation surprise in concept 8: slow decreases can leave the cycle too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cycle optimiser through a peak. What to notice: DoS shoots above 100 as demand rises; the cycle climbs in 4 s and then 8 s steps until DoS is back under 90; after the peak it falls slowly. Simulated with this lab's rules (L = 12 s, Y from 0.45 to 0.78 and back).
Try it with the audience: A region runs a 56 s cycle. The critical node has Y = 0.70 and L = 12 s. What does the cycle optimiser do?
Answer: DoS = 0.70 × 56 ÷ 44 = 39.2 ÷ 44 = 0.89. That is between 0.80 and 0.90, so it holds at 56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Metronome = region cycle; weights = 4/8/16 s steps; cuckoo every five minutes = review every 5 min; the gauge = critical node DoS with its 90% target.
Recap: Cycle optimiser: every 5 min (2.5 rising) the critical node's DoS decides: &gt; 90% up, all &lt; 80% down, steps 4/8/16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queue grows back over SCOOT's detector, the detector just sits there 'occupied'. It can no longer count arrivals. What does SCOOT do when its own eyes are covered?
When a queue reaches back over the upstream detector, the detector stays occupied by standing traffic. SCOOT measures congestion as the share of the cycle the detector is covered in this way.
The engineer gives each link a congestion importance factor. It raises that link's weight in the split optimiser, so a congested link gets green before its queue blocks the junction behind it. Later SCOOT versions also detect exit blocking: a link cannot discharge because the road beyond it is full, so giving it green is wasted.
Gating protects a critical bottleneck. When a critical link's DoS passes a threshold, SCOOT shortens the green on chosen gate links further out, where queues do no harm. The bottleneck keeps flowing instead of locking up.
Presenter tip: Be honest about the lab: congestion importance made no difference in our SUMO region because queues never reached the detectors. That is a finding,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DoS as congestion grows (plain DoS 0.80). What to notice: with importance 0 congestion is ignored; with importance 1 or 2 the link crosses the 90% target at f ≈ 0.13 or 0.06 and wins green. Computed from DoS × (1 + importance × f).
Try it with the audience: A link has DoS 0.75. Its detector is blocked for 18 s of a 60 s cycle; importance 1.0. Is its weighted DoS above the 90% target?
Answer: f = 18 ÷ 60 = 0.30; weighted DoS = 0.75 × 1.30 = 0.975. Yes, above 0.90, so it will be favoured.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Coats on the sensor = queue over the detector (congestion); the gate = gating; the long lawn = the harmless gate link where queues may wait.
Recap: Congestion and gating: queues over the detector raise a link's weight (DoS × (1 + importance × f)); exit blocking wastes green; gating holds traffic where queues are harmless.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 carries 50 people; a car carries one or two. If a bus arrives just as the light turns red, should the light wait for it?
Buses are detected by automatic vehicle location (AVL), using GPS, or by a selective vehicle detector (SVD) that only buses trigger. SCOOT then has two tools.
An extension holds the current green a few seconds so a bus about to arrive gets through. A recall brings the bus's stage in early by cutting the current stage short, but never below its minimum green.
After either, SCOOT recovers: the following stages are adjusted so the plan returns to its optimised timings within a cycle or two. The authority given to buses can be weighted by how important priority is on that route. In our SUMO region, bus priority cut bus delay from 34.7 s to 22.9 s.
Presenter tip: Draw the 80 s cycle as a bar and place the two buses on it. Ask the audience which tool each needs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bus delay on the SUMO region (Lab A1 and A2). What to notice: SCOOT's priority cut bus delay by about a third compared with SCOOT without priority, and to under a fifth of fixed time. From this repository's runs, seed 1.
Try it with the audience: Same junction. A bus will reach the stop line at 50 s. Which tool works, and how much bus delay does it save?
Answer: 50 ≤ 52 (40 + 12), so an extension to 50 s works. Without priority the bus waits 80 − 50 = 30 s, so it saves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Held note = extension (max 12 s here); song cut short = recall after minimum green; the bus = a detected bus via GPS or a bus-only detector.
Recap: Bus priority: detect by AVL or SVD; extend green (≤ 12 s here) or recall the bus stage after minimum green; recover in 1-2 cycles. Lab: 34.7 → 22.9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SCOOT does more than time lights. It remembers what traffic usually looks like, notices when today looks wrong, and estimates the pollution on every street. What is it doing with all that data?
ASTRID is a database that stores SCOOT's data over days and weeks. Its historic profiles say what flow normally looks like at this link, on this kind of day, at this time. When a detector fails, SCOOT can substitute the historic profile instead of flying blind.
INGRID is real-time incident detection. It compares what the detectors see now with what ASTRID says is normal. A sudden drop in flow with very high occupancy downstream, for example, suggests a crash or a blocked lane, and an operator is alerted.
Later versions added emissions estimates (from version 4, 1997), better behaviour in oversaturation (version 5), pedestrian and low-flow features (version 6, 2010) and, in SCOOT 7 (2020), cooperative-vehicle data, pedestrian SCOOT, loop-failure logic and a cloud-first design. Some cities are now moving to newer systems such as Transport for London's FUSION, built on the same principles.
Presenter tip: Keep this section light: a tour of the toolbox. The INGRID calculation shows why low flow alone is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wider system uses SCOOT's data. What to notice: the same detector data feed three jobs: control, memory (ASTRID) and alarms (INGRID). Read left to right, then down.
Try it with the audience: A link's history says 40 LPU per 5 min at 02:00. Tonight it reads 8 LPU and occupancy is 3% (normally 4%). Incident or not?
Answer: Flow ratio 8 ÷ 40 = 0.2, but occupancy is low and about normal (3/4 = 0.75). Traffic is light and moving, not stuck: probably no incident (perhaps a quiet night or a diversion).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Astrid's archive = the ASTRID database of historic profiles; Ingrid's bell = INGRID incident detection comparing now with history.
Recap: Wider system: ASTRID stores historic profiles (and backs up failed loops), INGRID flags incidents by comparing now with history; later versions added emissions, pedestrians and cooperative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put every mechanism together on four junctions in SUMO, then switched them off one at a time. Some results were expected. Two were surprises.
Four junctions 300 m apart form one SCOOT region. Demand starts low, then a 30-minute eastbound peak, a westbound peak, and low traffic again, with buses every 4 minutes each way. All the mechanisms run together.
Lab A1 compares controllers on the same demand: mean delay 86.95 s fixed, 29.07 s actuated, 30.44 s SCOOT. SCOOT had the fewest stops (1.10 per vehicle against 1.15 actuated) and much lower bus delay (22.9 against 38.0 s). On delay alone, good actuation was slightly ahead on this short corridor.
Lab A2 removes one mechanism at a time. Without the split optimiser delay more than doubles (77.3 s): a fixed 60/40 split cannot serve tidal peaks. Without offsets it rises to 39.7 s. Two surprises: freezing the cycle at 60 s did slightly better (26.8 s), because after the first peak the cycle came down only 8 s every 5 minutes; and congestion importance changed nothing, because queues never reached the detectors.
Presenter tip: Present the results honestly: actuation is level on delay; SCOOT wins on stops and buses. Use the two surprises to discuss tuning and test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(Lab A2): mean delay with one mechanism removed. What to notice: removing the split optimiser hurts most; removing the cycle optimiser actually helped on this demand; congestion importance had no effect. SUMO, same demand and seed for every bar.
Try it with the audience: Without offset optimisation the mean delay was 39.74 s; full SCOOT 30.44 s. By what percentage does offset optimisation reduce delay?
Answer: (39.74 − 30.44) ÷ 39.74 = 9.30 ÷ 39.74 = 23% less delay with offset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Scores = Lab A1 delays (fixed 87, actuated 29, SCOOT 30 s); violins sent home = no split optimiser (77 s); glued metronome = fixed cycle (26.8 s).
Recap: Full system: Lab A1 delay fixed 87.0 / actuated 29.1 / SCOOT 30.4 s (bus 22.9 s); ablation: split matters most (77.3 s without); fixed cycle 26.8 s and congestion no effect are honest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−4: 20/26 = 0.77, 18/24 = 0.75 → 0.77. 0: 0.67, 0.90 → 0.90. +4: 0.59, 1.13 → 1.13. Lowest highest DoS is −4.
Answer: C. DoS = 0.75 × 60 ÷ 48 = 0.94 &gt; 0.90, and 60 &lt; 64 so the step is 4 s → 64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No split optimiser: 77.3 s against 30.4 s for full SCOOT.
Answer: B. Low flow with high occupancy means vehicles are stuck on the detector, not 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1, Stage door: At the stage door the whole orchestra marches in, every foot landing on one giant metronome's tick. A tiny triangle player at the back skips two steps for every one tick, grinning, never falling out of time. (One metronome = one region cycle; the marching players = nodes; the triangle player's two steps per tick = double cycling.)
Stop 2, Seesaw: In the green room two singers sit on a seesaw. A stagehand stands ready with a 4 kg sandbag; every few seconds he drops it on one end, or shrugs and keeps it. Each time he also glues a single 1 kg weight to that end for ever. (The 4 kg bag = the ±4 s temporary change; the glued 1 kg = the ±1 s permanent change; the shrug = 'keep', the most common decision.)
Stop 3, Echo corridor: In a long corridor two drummers try to make their beats meet in the middle. Each cycle the second drummer shuffles 4 steps forward or back, watching a glowing noise meter on the wall, and stops when the meter is at its lowest. (The drummers = two nodes; shuffling 4 steps = the ±4 s offset change; the noise meter = PI; stopping at the lowest = the valley of the PI curve.)
Stop 4, Metronome: On the podium stands a metronome as tall as a giraffe. Three weights hang on it, stamped 4, 8 and 16. Every five minutes a cuckoo pops out; the conductor glances at a gauge painted red above 90 and slides one weight up or down. (Metronome = region cycle; weights = 4/8/16 s steps; cuckoo every five minutes = review every 5 min; the gauge = critical node DoS with its 90% target.)
Stop 5, Cloakroom: In the foyer a mountain of coats has piled up over the doorway's motion sensor, which flashes 'BUSY' forever. An usher in white gloves swings the outer gate shut, and outside on the long lawn concert-goers queue happily with picnic blankets. (Coats on the sensor = queue over the detector (congestion); the gate = gating; the long lawn = the harmless gate link where queues may wait.)
Stop 6, Bus in the pit: A red double-decker bus rolls into the orchestra pit. The conductor holds the last violin note on and on until the bus has squeezed past (extension), then later cuts a song short with a crash of cymbals to let a second bus in (recall). (Held note = extension (max 12 s here); song cut short = recall after minimum green; the bus = a detected bus via GPS or a bus-only detector.)
Stop 7, Archive room: Behind the stage is a dusty archive where an archivist named Astrid files a recording of every concert. Her twin sister Ingrid listens to tonight's music through a brass trumpet and rings a fire bell the moment it sounds unlike the recordings. (Astrid's archive = the ASTRID database of historic profiles; Ingrid's bell = INGRID incident detection comparing now with history.)
Stop 8, Applause meter: At the final bow a giant applause meter shows the night's 'grumble' scores: a clockwork robot scores 87, a jumpy rabbit 29, the conductor 30. When the violinists are sent home the grumble leaps to 77; when the metronome is glued at 60, it drops to 27. (Scores = Lab A1 delays (fixed 87, actuated 29, SCOOT 30 s); violins sent home = no split optimiser (77 s); glued metronome = fixed cycle (26.8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the study guide for the full worked examples, quiz and revision plan, and to the website for the simulators.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D5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D5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lstStyle>
            <a:lvl1pPr indent="0" marL="0">
              <a:buNone/>
              <a:defRPr lang="en-US" sz="2400" b="1" dirty="0">
                <a:solidFill>
                  <a:schemeClr val="tx2"/>
                </a:solidFill>
              </a:defRPr>
            </a:lvl1pPr>
          </a:lstStyle>
          <a:p>
            <a:pPr indent="0" marL="0">
              <a:buNone/>
            </a:pPr>
            <a:endParaRPr lang="en-US" sz="2400" dirty="0"/>
          </a:p>
        </p:txBody>
      </p:sp>
      <p:sp>
        <p:nvSpPr>
          <p:cNvPr id="3" name="Text 0"/>
          <p:cNvSpPr/>
          <p:nvPr/>
        </p:nvSpPr>
        <p:spPr>
          <a:xfrm>
            <a:off x="411480" y="4828032"/>
            <a:ext cx="5486400" cy="228600"/>
          </a:xfrm>
          <a:prstGeom prst="rect">
            <a:avLst/>
          </a:prstGeom>
          <a:noFill/>
          <a:ln/>
        </p:spPr>
        <p:txBody>
          <a:bodyPr wrap="square" rtlCol="0" anchor="ctr"/>
          <a:lstStyle/>
          <a:p>
            <a:pPr indent="0" marL="0">
              <a:buNone/>
            </a:pPr>
            <a:r>
              <a:rPr lang="en-US" sz="900" dirty="0">
                <a:solidFill>
                  <a:schemeClr val="tx1">
                    <a:alpha val="60000"/>
                  </a:schemeClr>
                </a:solidFill>
              </a:rPr>
              <a:t>SCOOT Learning Lab · Advanced</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Three small optimisers that run a whole city's lights</a:t>
            </a: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nchor="t"/>
          <a:lstStyle/>
          <a:p>
            <a:pPr indent="0" marL="0">
              <a:buNone/>
            </a:pPr>
            <a:r>
              <a:rPr lang="en-US" sz="1600" dirty="0">
                <a:solidFill>
                  <a:schemeClr val="bg1"/>
                </a:solidFill>
              </a:rPr>
              <a:t>How SCOOT turns its link models into coordinated splits, offsets and cycle times, and copes with jams, buses and broken detectors.</a:t>
            </a:r>
            <a:endParaRPr lang="en-US" sz="1600" dirty="0"/>
          </a:p>
        </p:txBody>
      </p:sp>
      <p:sp>
        <p:nvSpPr>
          <p:cNvPr id="4" name="level pill"/>
          <p:cNvSpPr/>
          <p:nvPr/>
        </p:nvSpPr>
        <p:spPr>
          <a:xfrm>
            <a:off x="548640" y="502920"/>
            <a:ext cx="2377440" cy="384048"/>
          </a:xfrm>
          <a:prstGeom prst="roundRect">
            <a:avLst>
              <a:gd name="adj" fmla="val 19048"/>
            </a:avLst>
          </a:prstGeom>
          <a:solidFill>
            <a:srgbClr val="D08A2C"/>
          </a:solidFill>
          <a:ln w="12700">
            <a:solidFill>
              <a:srgbClr val="D08A2C"/>
            </a:solidFill>
            <a:prstDash val="solid"/>
          </a:ln>
        </p:spPr>
      </p:sp>
      <p:sp>
        <p:nvSpPr>
          <p:cNvPr id="5" name="Text 3"/>
          <p:cNvSpPr txBox="1"/>
          <p:nvPr/>
        </p:nvSpPr>
        <p:spPr>
          <a:xfrm>
            <a:off x="548640" y="502920"/>
            <a:ext cx="2377440" cy="384048"/>
          </a:xfrm>
          <a:prstGeom prst="rect">
            <a:avLst/>
          </a:prstGeom>
          <a:noFill/>
          <a:ln/>
        </p:spPr>
        <p:txBody>
          <a:bodyPr wrap="square" lIns="0" tIns="0" rIns="0" bIns="0" rtlCol="0" anchor="ctr"/>
          <a:lstStyle/>
          <a:p>
            <a:pPr algn="ctr" indent="0" marL="0">
              <a:buNone/>
            </a:pPr>
            <a:r>
              <a:rPr lang="en-US" sz="1200" b="1" dirty="0">
                <a:solidFill>
                  <a:srgbClr val="1A1A1A"/>
                </a:solidFill>
              </a:rPr>
              <a:t>SCOOT · Level 2 · Advanced</a:t>
            </a:r>
            <a:endParaRPr lang="en-US" sz="1200" dirty="0"/>
          </a:p>
        </p:txBody>
      </p:sp>
      <p:sp>
        <p:nvSpPr>
          <p:cNvPr id="6" name="Text 4"/>
          <p:cNvSpPr txBox="1"/>
          <p:nvPr/>
        </p:nvSpPr>
        <p:spPr>
          <a:xfrm>
            <a:off x="548640" y="4434840"/>
            <a:ext cx="5486400" cy="320040"/>
          </a:xfrm>
          <a:prstGeom prst="rect">
            <a:avLst/>
          </a:prstGeom>
          <a:noFill/>
          <a:ln/>
        </p:spPr>
        <p:txBody>
          <a:bodyPr wrap="square" rtlCol="0" anchor="ctr"/>
          <a:lstStyle/>
          <a:p>
            <a:pPr indent="0" marL="0">
              <a:buNone/>
            </a:pPr>
            <a:r>
              <a:rPr lang="en-US" sz="1100" dirty="0">
                <a:solidFill>
                  <a:srgbClr val="FFFFFF">
                    <a:alpha val="75000"/>
                  </a:srgbClr>
                </a:solidFill>
              </a:rPr>
              <a:t>smrahmanbd.github.io/scoot-learning-lab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8 ideas, each building on the last</a:t>
            </a:r>
            <a:endParaRPr lang="en-US" sz="2400" dirty="0"/>
          </a:p>
        </p:txBody>
      </p:sp>
      <p:sp>
        <p:nvSpPr>
          <p:cNvPr id="3" name="concept card 1"/>
          <p:cNvSpPr/>
          <p:nvPr/>
        </p:nvSpPr>
        <p:spPr>
          <a:xfrm>
            <a:off x="411480" y="1005840"/>
            <a:ext cx="2651760" cy="1078992"/>
          </a:xfrm>
          <a:prstGeom prst="roundRect">
            <a:avLst>
              <a:gd name="adj" fmla="val 6780"/>
            </a:avLst>
          </a:prstGeom>
          <a:solidFill>
            <a:srgbClr val="EEF4F0"/>
          </a:solidFill>
          <a:ln w="12700">
            <a:solidFill>
              <a:srgbClr val="EEF4F0"/>
            </a:solidFill>
            <a:prstDash val="solid"/>
          </a:ln>
        </p:spPr>
      </p:sp>
      <p:sp>
        <p:nvSpPr>
          <p:cNvPr id="4" name="dot 1"/>
          <p:cNvSpPr/>
          <p:nvPr/>
        </p:nvSpPr>
        <p:spPr>
          <a:xfrm>
            <a:off x="548640" y="1143000"/>
            <a:ext cx="384048" cy="384048"/>
          </a:xfrm>
          <a:prstGeom prst="ellipse">
            <a:avLst/>
          </a:prstGeom>
          <a:solidFill>
            <a:srgbClr val="0B3954"/>
          </a:solidFill>
          <a:ln w="12700">
            <a:solidFill>
              <a:srgbClr val="0B3954"/>
            </a:solidFill>
            <a:prstDash val="solid"/>
          </a:ln>
        </p:spPr>
      </p:sp>
      <p:sp>
        <p:nvSpPr>
          <p:cNvPr id="5" name="Text 3"/>
          <p:cNvSpPr txBox="1"/>
          <p:nvPr/>
        </p:nvSpPr>
        <p:spPr>
          <a:xfrm>
            <a:off x="54864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00584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Regions, nodes and double cycling</a:t>
            </a:r>
            <a:endParaRPr lang="en-US" sz="1300" dirty="0"/>
          </a:p>
        </p:txBody>
      </p:sp>
      <p:sp>
        <p:nvSpPr>
          <p:cNvPr id="7" name="Text 5"/>
          <p:cNvSpPr txBox="1"/>
          <p:nvPr/>
        </p:nvSpPr>
        <p:spPr>
          <a:xfrm>
            <a:off x="54864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40 → 17 s  pedestrian wait when a 96 s crossing double cycles</a:t>
            </a:r>
            <a:endParaRPr lang="en-US" sz="1050" dirty="0"/>
          </a:p>
        </p:txBody>
      </p:sp>
      <p:sp>
        <p:nvSpPr>
          <p:cNvPr id="8" name="concept card 2"/>
          <p:cNvSpPr/>
          <p:nvPr/>
        </p:nvSpPr>
        <p:spPr>
          <a:xfrm>
            <a:off x="3246120" y="1005840"/>
            <a:ext cx="2651760" cy="1078992"/>
          </a:xfrm>
          <a:prstGeom prst="roundRect">
            <a:avLst>
              <a:gd name="adj" fmla="val 6780"/>
            </a:avLst>
          </a:prstGeom>
          <a:solidFill>
            <a:srgbClr val="EEF4F0"/>
          </a:solidFill>
          <a:ln w="12700">
            <a:solidFill>
              <a:srgbClr val="EEF4F0"/>
            </a:solidFill>
            <a:prstDash val="solid"/>
          </a:ln>
        </p:spPr>
      </p:sp>
      <p:sp>
        <p:nvSpPr>
          <p:cNvPr id="9" name="dot 2"/>
          <p:cNvSpPr/>
          <p:nvPr/>
        </p:nvSpPr>
        <p:spPr>
          <a:xfrm>
            <a:off x="3383280" y="1143000"/>
            <a:ext cx="384048" cy="384048"/>
          </a:xfrm>
          <a:prstGeom prst="ellipse">
            <a:avLst/>
          </a:prstGeom>
          <a:solidFill>
            <a:srgbClr val="04505A"/>
          </a:solidFill>
          <a:ln w="12700">
            <a:solidFill>
              <a:srgbClr val="04505A"/>
            </a:solidFill>
            <a:prstDash val="solid"/>
          </a:ln>
        </p:spPr>
      </p:sp>
      <p:sp>
        <p:nvSpPr>
          <p:cNvPr id="10" name="Text 8"/>
          <p:cNvSpPr txBox="1"/>
          <p:nvPr/>
        </p:nvSpPr>
        <p:spPr>
          <a:xfrm>
            <a:off x="338328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384048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The split optimiser</a:t>
            </a:r>
            <a:endParaRPr lang="en-US" sz="1300" dirty="0"/>
          </a:p>
        </p:txBody>
      </p:sp>
      <p:sp>
        <p:nvSpPr>
          <p:cNvPr id="12" name="Text 10"/>
          <p:cNvSpPr txBox="1"/>
          <p:nvPr/>
        </p:nvSpPr>
        <p:spPr>
          <a:xfrm>
            <a:off x="338328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88%  split decisions that were 'keep' in our SUMO run</a:t>
            </a:r>
            <a:endParaRPr lang="en-US" sz="1050" dirty="0"/>
          </a:p>
        </p:txBody>
      </p:sp>
      <p:sp>
        <p:nvSpPr>
          <p:cNvPr id="13" name="concept card 3"/>
          <p:cNvSpPr/>
          <p:nvPr/>
        </p:nvSpPr>
        <p:spPr>
          <a:xfrm>
            <a:off x="6080760" y="1005840"/>
            <a:ext cx="2651760" cy="1078992"/>
          </a:xfrm>
          <a:prstGeom prst="roundRect">
            <a:avLst>
              <a:gd name="adj" fmla="val 6780"/>
            </a:avLst>
          </a:prstGeom>
          <a:solidFill>
            <a:srgbClr val="EEF4F0"/>
          </a:solidFill>
          <a:ln w="12700">
            <a:solidFill>
              <a:srgbClr val="EEF4F0"/>
            </a:solidFill>
            <a:prstDash val="solid"/>
          </a:ln>
        </p:spPr>
      </p:sp>
      <p:sp>
        <p:nvSpPr>
          <p:cNvPr id="14" name="dot 3"/>
          <p:cNvSpPr/>
          <p:nvPr/>
        </p:nvSpPr>
        <p:spPr>
          <a:xfrm>
            <a:off x="6217920" y="1143000"/>
            <a:ext cx="384048" cy="384048"/>
          </a:xfrm>
          <a:prstGeom prst="ellipse">
            <a:avLst/>
          </a:prstGeom>
          <a:solidFill>
            <a:srgbClr val="2F5A1C"/>
          </a:solidFill>
          <a:ln w="12700">
            <a:solidFill>
              <a:srgbClr val="2F5A1C"/>
            </a:solidFill>
            <a:prstDash val="solid"/>
          </a:ln>
        </p:spPr>
      </p:sp>
      <p:sp>
        <p:nvSpPr>
          <p:cNvPr id="15" name="Text 13"/>
          <p:cNvSpPr txBox="1"/>
          <p:nvPr/>
        </p:nvSpPr>
        <p:spPr>
          <a:xfrm>
            <a:off x="621792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667512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The offset optimiser</a:t>
            </a:r>
            <a:endParaRPr lang="en-US" sz="1300" dirty="0"/>
          </a:p>
        </p:txBody>
      </p:sp>
      <p:sp>
        <p:nvSpPr>
          <p:cNvPr id="17" name="Text 15"/>
          <p:cNvSpPr txBox="1"/>
          <p:nvPr/>
        </p:nvSpPr>
        <p:spPr>
          <a:xfrm>
            <a:off x="621792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230 → 94  PI after four offset steps in the worked example</a:t>
            </a:r>
            <a:endParaRPr lang="en-US" sz="1050" dirty="0"/>
          </a:p>
        </p:txBody>
      </p:sp>
      <p:sp>
        <p:nvSpPr>
          <p:cNvPr id="18" name="concept card 4"/>
          <p:cNvSpPr/>
          <p:nvPr/>
        </p:nvSpPr>
        <p:spPr>
          <a:xfrm>
            <a:off x="411480" y="2249424"/>
            <a:ext cx="2651760" cy="1078992"/>
          </a:xfrm>
          <a:prstGeom prst="roundRect">
            <a:avLst>
              <a:gd name="adj" fmla="val 6780"/>
            </a:avLst>
          </a:prstGeom>
          <a:solidFill>
            <a:srgbClr val="EEF4F0"/>
          </a:solidFill>
          <a:ln w="12700">
            <a:solidFill>
              <a:srgbClr val="EEF4F0"/>
            </a:solidFill>
            <a:prstDash val="solid"/>
          </a:ln>
        </p:spPr>
      </p:sp>
      <p:sp>
        <p:nvSpPr>
          <p:cNvPr id="19" name="dot 4"/>
          <p:cNvSpPr/>
          <p:nvPr/>
        </p:nvSpPr>
        <p:spPr>
          <a:xfrm>
            <a:off x="548640" y="2386584"/>
            <a:ext cx="384048" cy="384048"/>
          </a:xfrm>
          <a:prstGeom prst="ellipse">
            <a:avLst/>
          </a:prstGeom>
          <a:solidFill>
            <a:srgbClr val="8F3520"/>
          </a:solidFill>
          <a:ln w="12700">
            <a:solidFill>
              <a:srgbClr val="8F3520"/>
            </a:solidFill>
            <a:prstDash val="solid"/>
          </a:ln>
        </p:spPr>
      </p:sp>
      <p:sp>
        <p:nvSpPr>
          <p:cNvPr id="20" name="Text 18"/>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100584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The cycle optimiser</a:t>
            </a:r>
            <a:endParaRPr lang="en-US" sz="1300" dirty="0"/>
          </a:p>
        </p:txBody>
      </p:sp>
      <p:sp>
        <p:nvSpPr>
          <p:cNvPr id="22" name="Text 20"/>
          <p:cNvSpPr txBox="1"/>
          <p:nvPr/>
        </p:nvSpPr>
        <p:spPr>
          <a:xfrm>
            <a:off x="54864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40 → 88 s  cycle growth in the worked peak</a:t>
            </a:r>
            <a:endParaRPr lang="en-US" sz="1050" dirty="0"/>
          </a:p>
        </p:txBody>
      </p:sp>
      <p:sp>
        <p:nvSpPr>
          <p:cNvPr id="23" name="concept card 5"/>
          <p:cNvSpPr/>
          <p:nvPr/>
        </p:nvSpPr>
        <p:spPr>
          <a:xfrm>
            <a:off x="3246120" y="2249424"/>
            <a:ext cx="2651760" cy="1078992"/>
          </a:xfrm>
          <a:prstGeom prst="roundRect">
            <a:avLst>
              <a:gd name="adj" fmla="val 6780"/>
            </a:avLst>
          </a:prstGeom>
          <a:solidFill>
            <a:srgbClr val="EEF4F0"/>
          </a:solidFill>
          <a:ln w="12700">
            <a:solidFill>
              <a:srgbClr val="EEF4F0"/>
            </a:solidFill>
            <a:prstDash val="solid"/>
          </a:ln>
        </p:spPr>
      </p:sp>
      <p:sp>
        <p:nvSpPr>
          <p:cNvPr id="24" name="dot 5"/>
          <p:cNvSpPr/>
          <p:nvPr/>
        </p:nvSpPr>
        <p:spPr>
          <a:xfrm>
            <a:off x="3383280" y="2386584"/>
            <a:ext cx="384048" cy="384048"/>
          </a:xfrm>
          <a:prstGeom prst="ellipse">
            <a:avLst/>
          </a:prstGeom>
          <a:solidFill>
            <a:srgbClr val="7A4412"/>
          </a:solidFill>
          <a:ln w="12700">
            <a:solidFill>
              <a:srgbClr val="7A4412"/>
            </a:solidFill>
            <a:prstDash val="solid"/>
          </a:ln>
        </p:spPr>
      </p:sp>
      <p:sp>
        <p:nvSpPr>
          <p:cNvPr id="25" name="Text 23"/>
          <p:cNvSpPr txBox="1"/>
          <p:nvPr/>
        </p:nvSpPr>
        <p:spPr>
          <a:xfrm>
            <a:off x="338328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384048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Congestion, exit blocking and gating</a:t>
            </a:r>
            <a:endParaRPr lang="en-US" sz="1300" dirty="0"/>
          </a:p>
        </p:txBody>
      </p:sp>
      <p:sp>
        <p:nvSpPr>
          <p:cNvPr id="27" name="Text 25"/>
          <p:cNvSpPr txBox="1"/>
          <p:nvPr/>
        </p:nvSpPr>
        <p:spPr>
          <a:xfrm>
            <a:off x="338328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0.85 → 1.02  weighted DoS with 20% congestion, importance 1</a:t>
            </a:r>
            <a:endParaRPr lang="en-US" sz="1050" dirty="0"/>
          </a:p>
        </p:txBody>
      </p:sp>
      <p:sp>
        <p:nvSpPr>
          <p:cNvPr id="28" name="concept card 6"/>
          <p:cNvSpPr/>
          <p:nvPr/>
        </p:nvSpPr>
        <p:spPr>
          <a:xfrm>
            <a:off x="6080760" y="2249424"/>
            <a:ext cx="2651760" cy="1078992"/>
          </a:xfrm>
          <a:prstGeom prst="roundRect">
            <a:avLst>
              <a:gd name="adj" fmla="val 6780"/>
            </a:avLst>
          </a:prstGeom>
          <a:solidFill>
            <a:srgbClr val="EEF4F0"/>
          </a:solidFill>
          <a:ln w="12700">
            <a:solidFill>
              <a:srgbClr val="EEF4F0"/>
            </a:solidFill>
            <a:prstDash val="solid"/>
          </a:ln>
        </p:spPr>
      </p:sp>
      <p:sp>
        <p:nvSpPr>
          <p:cNvPr id="29" name="dot 6"/>
          <p:cNvSpPr/>
          <p:nvPr/>
        </p:nvSpPr>
        <p:spPr>
          <a:xfrm>
            <a:off x="6217920" y="2386584"/>
            <a:ext cx="384048" cy="384048"/>
          </a:xfrm>
          <a:prstGeom prst="ellipse">
            <a:avLst/>
          </a:prstGeom>
          <a:solidFill>
            <a:srgbClr val="5A2F38"/>
          </a:solidFill>
          <a:ln w="12700">
            <a:solidFill>
              <a:srgbClr val="5A2F38"/>
            </a:solidFill>
            <a:prstDash val="solid"/>
          </a:ln>
        </p:spPr>
      </p:sp>
      <p:sp>
        <p:nvSpPr>
          <p:cNvPr id="30" name="Text 28"/>
          <p:cNvSpPr txBox="1"/>
          <p:nvPr/>
        </p:nvSpPr>
        <p:spPr>
          <a:xfrm>
            <a:off x="621792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667512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Bus priority: extensions and recalls</a:t>
            </a:r>
            <a:endParaRPr lang="en-US" sz="1300" dirty="0"/>
          </a:p>
        </p:txBody>
      </p:sp>
      <p:sp>
        <p:nvSpPr>
          <p:cNvPr id="32" name="Text 30"/>
          <p:cNvSpPr txBox="1"/>
          <p:nvPr/>
        </p:nvSpPr>
        <p:spPr>
          <a:xfrm>
            <a:off x="621792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22.9 s  mean bus delay with priority (34.7 s without)</a:t>
            </a:r>
            <a:endParaRPr lang="en-US" sz="1050" dirty="0"/>
          </a:p>
        </p:txBody>
      </p:sp>
      <p:sp>
        <p:nvSpPr>
          <p:cNvPr id="33" name="concept card 7"/>
          <p:cNvSpPr/>
          <p:nvPr/>
        </p:nvSpPr>
        <p:spPr>
          <a:xfrm>
            <a:off x="411480" y="3493008"/>
            <a:ext cx="2651760" cy="1078992"/>
          </a:xfrm>
          <a:prstGeom prst="roundRect">
            <a:avLst>
              <a:gd name="adj" fmla="val 6780"/>
            </a:avLst>
          </a:prstGeom>
          <a:solidFill>
            <a:srgbClr val="EEF4F0"/>
          </a:solidFill>
          <a:ln w="12700">
            <a:solidFill>
              <a:srgbClr val="EEF4F0"/>
            </a:solidFill>
            <a:prstDash val="solid"/>
          </a:ln>
        </p:spPr>
      </p:sp>
      <p:sp>
        <p:nvSpPr>
          <p:cNvPr id="34" name="dot 7"/>
          <p:cNvSpPr/>
          <p:nvPr/>
        </p:nvSpPr>
        <p:spPr>
          <a:xfrm>
            <a:off x="548640" y="3630168"/>
            <a:ext cx="384048" cy="384048"/>
          </a:xfrm>
          <a:prstGeom prst="ellipse">
            <a:avLst/>
          </a:prstGeom>
          <a:solidFill>
            <a:srgbClr val="3F3266"/>
          </a:solidFill>
          <a:ln w="12700">
            <a:solidFill>
              <a:srgbClr val="3F3266"/>
            </a:solidFill>
            <a:prstDash val="solid"/>
          </a:ln>
        </p:spPr>
      </p:sp>
      <p:sp>
        <p:nvSpPr>
          <p:cNvPr id="35" name="Text 33"/>
          <p:cNvSpPr txBox="1"/>
          <p:nvPr/>
        </p:nvSpPr>
        <p:spPr>
          <a:xfrm>
            <a:off x="54864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6" name="Text 34"/>
          <p:cNvSpPr txBox="1"/>
          <p:nvPr/>
        </p:nvSpPr>
        <p:spPr>
          <a:xfrm>
            <a:off x="1005840" y="3566160"/>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The wider SCOOT system</a:t>
            </a:r>
            <a:endParaRPr lang="en-US" sz="1300" dirty="0"/>
          </a:p>
        </p:txBody>
      </p:sp>
      <p:sp>
        <p:nvSpPr>
          <p:cNvPr id="37" name="Text 35"/>
          <p:cNvSpPr txBox="1"/>
          <p:nvPr/>
        </p:nvSpPr>
        <p:spPr>
          <a:xfrm>
            <a:off x="548640" y="4133088"/>
            <a:ext cx="2377440" cy="347472"/>
          </a:xfrm>
          <a:prstGeom prst="rect">
            <a:avLst/>
          </a:prstGeom>
          <a:noFill/>
          <a:ln/>
        </p:spPr>
        <p:txBody>
          <a:bodyPr wrap="square" lIns="0" tIns="0" rIns="0" bIns="0" rtlCol="0" anchor="t"/>
          <a:lstStyle/>
          <a:p>
            <a:pPr indent="0" marL="0">
              <a:buNone/>
            </a:pPr>
            <a:r>
              <a:rPr lang="en-US" sz="1050" dirty="0">
                <a:solidFill>
                  <a:schemeClr val="tx1"/>
                </a:solidFill>
              </a:rPr>
              <a:t>2020  SCOOT 7: cooperative data and cloud-first design</a:t>
            </a:r>
            <a:endParaRPr lang="en-US" sz="1050" dirty="0"/>
          </a:p>
        </p:txBody>
      </p:sp>
      <p:sp>
        <p:nvSpPr>
          <p:cNvPr id="38" name="concept card 8"/>
          <p:cNvSpPr/>
          <p:nvPr/>
        </p:nvSpPr>
        <p:spPr>
          <a:xfrm>
            <a:off x="3246120" y="3493008"/>
            <a:ext cx="2651760" cy="1078992"/>
          </a:xfrm>
          <a:prstGeom prst="roundRect">
            <a:avLst>
              <a:gd name="adj" fmla="val 6780"/>
            </a:avLst>
          </a:prstGeom>
          <a:solidFill>
            <a:srgbClr val="EEF4F0"/>
          </a:solidFill>
          <a:ln w="12700">
            <a:solidFill>
              <a:srgbClr val="EEF4F0"/>
            </a:solidFill>
            <a:prstDash val="solid"/>
          </a:ln>
        </p:spPr>
      </p:sp>
      <p:sp>
        <p:nvSpPr>
          <p:cNvPr id="39" name="dot 8"/>
          <p:cNvSpPr/>
          <p:nvPr/>
        </p:nvSpPr>
        <p:spPr>
          <a:xfrm>
            <a:off x="3383280" y="3630168"/>
            <a:ext cx="384048" cy="384048"/>
          </a:xfrm>
          <a:prstGeom prst="ellipse">
            <a:avLst/>
          </a:prstGeom>
          <a:solidFill>
            <a:srgbClr val="4A4A5A"/>
          </a:solidFill>
          <a:ln w="12700">
            <a:solidFill>
              <a:srgbClr val="4A4A5A"/>
            </a:solidFill>
            <a:prstDash val="solid"/>
          </a:ln>
        </p:spPr>
      </p:sp>
      <p:sp>
        <p:nvSpPr>
          <p:cNvPr id="40" name="Text 38"/>
          <p:cNvSpPr txBox="1"/>
          <p:nvPr/>
        </p:nvSpPr>
        <p:spPr>
          <a:xfrm>
            <a:off x="338328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1" name="Text 39"/>
          <p:cNvSpPr txBox="1"/>
          <p:nvPr/>
        </p:nvSpPr>
        <p:spPr>
          <a:xfrm>
            <a:off x="3840480" y="3566160"/>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The full system on a SUMO region</a:t>
            </a:r>
            <a:endParaRPr lang="en-US" sz="1300" dirty="0"/>
          </a:p>
        </p:txBody>
      </p:sp>
      <p:sp>
        <p:nvSpPr>
          <p:cNvPr id="42" name="Text 40"/>
          <p:cNvSpPr txBox="1"/>
          <p:nvPr/>
        </p:nvSpPr>
        <p:spPr>
          <a:xfrm>
            <a:off x="3383280" y="4133088"/>
            <a:ext cx="2377440" cy="347472"/>
          </a:xfrm>
          <a:prstGeom prst="rect">
            <a:avLst/>
          </a:prstGeom>
          <a:noFill/>
          <a:ln/>
        </p:spPr>
        <p:txBody>
          <a:bodyPr wrap="square" lIns="0" tIns="0" rIns="0" bIns="0" rtlCol="0" anchor="t"/>
          <a:lstStyle/>
          <a:p>
            <a:pPr indent="0" marL="0">
              <a:buNone/>
            </a:pPr>
            <a:r>
              <a:rPr lang="en-US" sz="1050" dirty="0">
                <a:solidFill>
                  <a:schemeClr val="tx1"/>
                </a:solidFill>
              </a:rPr>
              <a:t>−65%  delay vs fixed time on the SUMO region</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Three surprises to start</a:t>
            </a:r>
            <a:endParaRPr lang="en-US" sz="2400" dirty="0"/>
          </a:p>
        </p:txBody>
      </p:sp>
      <p:sp>
        <p:nvSpPr>
          <p:cNvPr id="3" name="hook 1"/>
          <p:cNvSpPr/>
          <p:nvPr/>
        </p:nvSpPr>
        <p:spPr>
          <a:xfrm>
            <a:off x="411480" y="1005840"/>
            <a:ext cx="2651760" cy="3566160"/>
          </a:xfrm>
          <a:prstGeom prst="roundRect">
            <a:avLst>
              <a:gd name="adj" fmla="val 2759"/>
            </a:avLst>
          </a:prstGeom>
          <a:solidFill>
            <a:srgbClr val="EEF4F0"/>
          </a:solidFill>
          <a:ln w="12700">
            <a:solidFill>
              <a:srgbClr val="EEF4F0"/>
            </a:solidFill>
            <a:prstDash val="solid"/>
          </a:ln>
        </p:spPr>
      </p:sp>
      <p:sp>
        <p:nvSpPr>
          <p:cNvPr id="4" name="Shape 2"/>
          <p:cNvSpPr/>
          <p:nvPr/>
        </p:nvSpPr>
        <p:spPr>
          <a:xfrm>
            <a:off x="411480" y="1005840"/>
            <a:ext cx="2651760" cy="82296"/>
          </a:xfrm>
          <a:prstGeom prst="rect">
            <a:avLst/>
          </a:prstGeom>
          <a:solidFill>
            <a:srgbClr val="D08A2C"/>
          </a:solidFill>
          <a:ln w="12700">
            <a:solidFill>
              <a:srgbClr val="D08A2C"/>
            </a:solidFill>
            <a:prstDash val="solid"/>
          </a:ln>
        </p:spPr>
      </p:sp>
      <p:sp>
        <p:nvSpPr>
          <p:cNvPr id="5" name="Text 3"/>
          <p:cNvSpPr txBox="1"/>
          <p:nvPr/>
        </p:nvSpPr>
        <p:spPr>
          <a:xfrm>
            <a:off x="576072"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Most decisions change nothing.</a:t>
            </a:r>
            <a:endParaRPr lang="en-US" sz="1500" dirty="0"/>
          </a:p>
        </p:txBody>
      </p:sp>
      <p:sp>
        <p:nvSpPr>
          <p:cNvPr id="6" name="Text 4"/>
          <p:cNvSpPr txBox="1"/>
          <p:nvPr/>
        </p:nvSpPr>
        <p:spPr>
          <a:xfrm>
            <a:off x="576072"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In our SUMO run the split optimiser made 846 decisions and chose 'keep the timing' 747 times, about 88%. TRL's original description says about two thirds. Doing nothing, most of the time, is a sign the plan is already about right.</a:t>
            </a:r>
            <a:endParaRPr lang="en-US" sz="1150" dirty="0"/>
          </a:p>
        </p:txBody>
      </p:sp>
      <p:sp>
        <p:nvSpPr>
          <p:cNvPr id="7" name="hook 2"/>
          <p:cNvSpPr/>
          <p:nvPr/>
        </p:nvSpPr>
        <p:spPr>
          <a:xfrm>
            <a:off x="3218688" y="1005840"/>
            <a:ext cx="2651760" cy="3566160"/>
          </a:xfrm>
          <a:prstGeom prst="roundRect">
            <a:avLst>
              <a:gd name="adj" fmla="val 2759"/>
            </a:avLst>
          </a:prstGeom>
          <a:solidFill>
            <a:srgbClr val="EEF4F0"/>
          </a:solidFill>
          <a:ln w="12700">
            <a:solidFill>
              <a:srgbClr val="EEF4F0"/>
            </a:solidFill>
            <a:prstDash val="solid"/>
          </a:ln>
        </p:spPr>
      </p:sp>
      <p:sp>
        <p:nvSpPr>
          <p:cNvPr id="8" name="Shape 6"/>
          <p:cNvSpPr/>
          <p:nvPr/>
        </p:nvSpPr>
        <p:spPr>
          <a:xfrm>
            <a:off x="3218688" y="1005840"/>
            <a:ext cx="2651760" cy="82296"/>
          </a:xfrm>
          <a:prstGeom prst="rect">
            <a:avLst/>
          </a:prstGeom>
          <a:solidFill>
            <a:srgbClr val="D08A2C"/>
          </a:solidFill>
          <a:ln w="12700">
            <a:solidFill>
              <a:srgbClr val="D08A2C"/>
            </a:solidFill>
            <a:prstDash val="solid"/>
          </a:ln>
        </p:spPr>
      </p:sp>
      <p:sp>
        <p:nvSpPr>
          <p:cNvPr id="9" name="Text 7"/>
          <p:cNvSpPr txBox="1"/>
          <p:nvPr/>
        </p:nvSpPr>
        <p:spPr>
          <a:xfrm>
            <a:off x="3383280"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The green wave is never designed.</a:t>
            </a:r>
            <a:endParaRPr lang="en-US" sz="1500" dirty="0"/>
          </a:p>
        </p:txBody>
      </p:sp>
      <p:sp>
        <p:nvSpPr>
          <p:cNvPr id="10" name="Text 8"/>
          <p:cNvSpPr txBox="1"/>
          <p:nvPr/>
        </p:nvSpPr>
        <p:spPr>
          <a:xfrm>
            <a:off x="3383280"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Nobody tells SCOOT the best offset between two junctions. It tries 4 s earlier and 4 s later once per cycle and keeps whichever its model likes best. A few minutes later the platoons arrive on green.</a:t>
            </a:r>
            <a:endParaRPr lang="en-US" sz="1150" dirty="0"/>
          </a:p>
        </p:txBody>
      </p:sp>
      <p:sp>
        <p:nvSpPr>
          <p:cNvPr id="11" name="hook 3"/>
          <p:cNvSpPr/>
          <p:nvPr/>
        </p:nvSpPr>
        <p:spPr>
          <a:xfrm>
            <a:off x="6025896" y="1005840"/>
            <a:ext cx="2651760" cy="3566160"/>
          </a:xfrm>
          <a:prstGeom prst="roundRect">
            <a:avLst>
              <a:gd name="adj" fmla="val 2759"/>
            </a:avLst>
          </a:prstGeom>
          <a:solidFill>
            <a:srgbClr val="EEF4F0"/>
          </a:solidFill>
          <a:ln w="12700">
            <a:solidFill>
              <a:srgbClr val="EEF4F0"/>
            </a:solidFill>
            <a:prstDash val="solid"/>
          </a:ln>
        </p:spPr>
      </p:sp>
      <p:sp>
        <p:nvSpPr>
          <p:cNvPr id="12" name="Shape 10"/>
          <p:cNvSpPr/>
          <p:nvPr/>
        </p:nvSpPr>
        <p:spPr>
          <a:xfrm>
            <a:off x="6025896" y="1005840"/>
            <a:ext cx="2651760" cy="82296"/>
          </a:xfrm>
          <a:prstGeom prst="rect">
            <a:avLst/>
          </a:prstGeom>
          <a:solidFill>
            <a:srgbClr val="D08A2C"/>
          </a:solidFill>
          <a:ln w="12700">
            <a:solidFill>
              <a:srgbClr val="D08A2C"/>
            </a:solidFill>
            <a:prstDash val="solid"/>
          </a:ln>
        </p:spPr>
      </p:sp>
      <p:sp>
        <p:nvSpPr>
          <p:cNvPr id="13" name="Text 11"/>
          <p:cNvSpPr txBox="1"/>
          <p:nvPr/>
        </p:nvSpPr>
        <p:spPr>
          <a:xfrm>
            <a:off x="6190488"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Switching one thing off can help.</a:t>
            </a:r>
            <a:endParaRPr lang="en-US" sz="1500" dirty="0"/>
          </a:p>
        </p:txBody>
      </p:sp>
      <p:sp>
        <p:nvSpPr>
          <p:cNvPr id="14" name="Text 12"/>
          <p:cNvSpPr txBox="1"/>
          <p:nvPr/>
        </p:nvSpPr>
        <p:spPr>
          <a:xfrm>
            <a:off x="6190488"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In our ablation study, freezing the cycle at 60 s gave slightly lower delay (26.8 s) than full SCOOT (30.4 s). The reason teaches you why engineers set a maximum cycle for every region.</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Words you will meet</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0D5A3A"/>
                          </a:solidFill>
                        </a:rPr>
                        <a:t>Region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group of junctions that all use the same cycle time, so they can be coordinated.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Node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One junction or crossing inside a region.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Stage change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The moment one stage's green ends and the next stage's starts.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DoS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Degree of saturation: how full a link's green is. SCOOT aims for 90% or less.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PI</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Performance index: delay + K × stops. Lower is better.</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1772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0D5A3A"/>
                          </a:solidFill>
                        </a:rPr>
                        <a:t>Optimiser</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small rule that tries a few options in the model and keeps the best one.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Temporary / permanent change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change applied to this cycle only, or stored in the plan for the future.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Critical node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The busiest junction in a region; it decides the region's cycle time.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Gating</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Holding traffic back on purpose, where queues do no harm, to protect a bottleneck.</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AVL / SVD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Ways to detect buses: automatic vehicle location (GPS) or a selective vehicle detector.</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The map of today's ideas</a:t>
            </a:r>
            <a:endParaRPr lang="en-US" sz="2400" dirty="0"/>
          </a:p>
        </p:txBody>
      </p:sp>
      <p:pic>
        <p:nvPicPr>
          <p:cNvPr id="3" name="Image 0" descr="Concept map linking the ideas of this level">    </p:cNvPr>
          <p:cNvPicPr>
            <a:picLocks noChangeAspect="1"/>
          </p:cNvPicPr>
          <p:nvPr/>
        </p:nvPicPr>
        <p:blipFill>
          <a:blip r:embed="rId1"/>
          <a:stretch>
            <a:fillRect/>
          </a:stretch>
        </p:blipFill>
        <p:spPr>
          <a:xfrm>
            <a:off x="1429966" y="868680"/>
            <a:ext cx="6284068" cy="3886200"/>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B3954"/>
                </a:solidFill>
              </a:rPr>
              <a:t>1  </a:t>
            </a:r>
            <a:pPr indent="0" marL="0">
              <a:buNone/>
            </a:pPr>
            <a:r>
              <a:rPr lang="en-US" sz="2400" b="1" dirty="0">
                <a:solidFill>
                  <a:schemeClr val="tx2"/>
                </a:solidFill>
              </a:rPr>
              <a:t>Regions, nodes and double cycling</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An orchestra plays to one tempo so everyone stays together. A triangle player who has little to do can play two notes per beat and still stay in time. That is double cycling: a quiet node runs twice as fast but stays in step with its region.</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A region shares one cycle time</a:t>
            </a:r>
            <a:endParaRPr lang="en-US" sz="1600" dirty="0"/>
          </a:p>
          <a:p>
            <a:pPr marL="342900" indent="-342900">
              <a:spcAft>
                <a:spcPts val="800"/>
              </a:spcAft>
              <a:buSzPct val="100000"/>
              <a:buChar char="•"/>
            </a:pPr>
            <a:r>
              <a:rPr lang="en-US" sz="1600" dirty="0">
                <a:solidFill>
                  <a:schemeClr val="tx1"/>
                </a:solidFill>
              </a:rPr>
              <a:t>Shared cycle makes offsets meaningful</a:t>
            </a:r>
            <a:endParaRPr lang="en-US" sz="1600" dirty="0"/>
          </a:p>
          <a:p>
            <a:pPr marL="342900" indent="-342900">
              <a:spcAft>
                <a:spcPts val="800"/>
              </a:spcAft>
              <a:buSzPct val="100000"/>
              <a:buChar char="•"/>
            </a:pPr>
            <a:r>
              <a:rPr lang="en-US" sz="1600" dirty="0">
                <a:solidFill>
                  <a:schemeClr val="tx1"/>
                </a:solidFill>
              </a:rPr>
              <a:t>Quiet nodes may double cycle</a:t>
            </a:r>
            <a:endParaRPr lang="en-US" sz="1600" dirty="0"/>
          </a:p>
          <a:p>
            <a:pPr marL="342900" indent="-342900">
              <a:spcAft>
                <a:spcPts val="800"/>
              </a:spcAft>
              <a:buSzPct val="100000"/>
              <a:buChar char="•"/>
            </a:pPr>
            <a:r>
              <a:rPr lang="en-US" sz="1600" dirty="0">
                <a:solidFill>
                  <a:schemeClr val="tx1"/>
                </a:solidFill>
              </a:rPr>
              <a:t>Only if DoS stays below 90%</a:t>
            </a:r>
            <a:endParaRPr lang="en-US" sz="1600" dirty="0"/>
          </a:p>
        </p:txBody>
      </p:sp>
      <p:sp>
        <p:nvSpPr>
          <p:cNvPr id="7" name="stat card"/>
          <p:cNvSpPr/>
          <p:nvPr/>
        </p:nvSpPr>
        <p:spPr>
          <a:xfrm>
            <a:off x="5806440" y="2240280"/>
            <a:ext cx="2926080" cy="2377440"/>
          </a:xfrm>
          <a:prstGeom prst="roundRect">
            <a:avLst>
              <a:gd name="adj" fmla="val 3077"/>
            </a:avLst>
          </a:prstGeom>
          <a:solidFill>
            <a:srgbClr val="0B3954"/>
          </a:solidFill>
          <a:ln w="12700">
            <a:solidFill>
              <a:srgbClr val="0B3954"/>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40 → 17 s</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pedestrian wait when a 96 s crossing double cycles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Should this crossing double cycle?</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average pedestrian wait ≈ (C − g)² ÷ 2C</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double cycle allowed if DoS at C/2 ≤ 0.90</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Region cycle C = 96 s. Pedestrian green g = 8 s. Vehicle demand 0.3 LPU/s, SATO 1.2 LPU/s. At C/2 = 48 s the vehicles get 30 s of effective green.</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Wait at 96 s: (96 − 8)² ÷ (2 × 96) = 7744 ÷ 192 = </a:t>
            </a:r>
            <a:pPr indent="0" marL="0">
              <a:buNone/>
            </a:pPr>
            <a:r>
              <a:rPr lang="en-US" sz="1150" b="1" dirty="0">
                <a:solidFill>
                  <a:srgbClr val="000000"/>
                </a:solidFill>
              </a:rPr>
              <a:t>40.3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Wait at 48 s: (48 − 8)² ÷ (2 × 48) = 1600 ÷ 96 = </a:t>
            </a:r>
            <a:pPr indent="0" marL="0">
              <a:buNone/>
            </a:pPr>
            <a:r>
              <a:rPr lang="en-US" sz="1150" b="1" dirty="0">
                <a:solidFill>
                  <a:srgbClr val="000000"/>
                </a:solidFill>
              </a:rPr>
              <a:t>16.7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Vehicle demand per 48 s cycle: 0.3 × 48 = </a:t>
            </a:r>
            <a:pPr indent="0" marL="0">
              <a:buNone/>
            </a:pPr>
            <a:r>
              <a:rPr lang="en-US" sz="1150" b="1" dirty="0">
                <a:solidFill>
                  <a:srgbClr val="000000"/>
                </a:solidFill>
              </a:rPr>
              <a:t>14.4 LPU</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Capacity: 30 × 1.2 = </a:t>
            </a:r>
            <a:pPr indent="0" marL="0">
              <a:buNone/>
            </a:pPr>
            <a:r>
              <a:rPr lang="en-US" sz="1150" b="1" dirty="0">
                <a:solidFill>
                  <a:srgbClr val="000000"/>
                </a:solidFill>
              </a:rPr>
              <a:t>36 LPU</a:t>
            </a:r>
            <a:pPr indent="0" marL="0">
              <a:buNone/>
            </a:pPr>
            <a:r>
              <a:rPr lang="en-US" sz="1150" dirty="0">
                <a:solidFill>
                  <a:srgbClr val="000000"/>
                </a:solidFill>
              </a:rPr>
              <a:t>. DoS = 14.4 ÷ 36 = </a:t>
            </a:r>
            <a:pPr indent="0" marL="0">
              <a:buNone/>
            </a:pPr>
            <a:r>
              <a:rPr lang="en-US" sz="1150" b="1" dirty="0">
                <a:solidFill>
                  <a:srgbClr val="000000"/>
                </a:solidFill>
              </a:rPr>
              <a:t>0.40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0.40 ≤ 0.90, so double cycling is </a:t>
            </a:r>
            <a:pPr indent="0" marL="0">
              <a:buNone/>
            </a:pPr>
            <a:r>
              <a:rPr lang="en-US" sz="1150" b="1" dirty="0">
                <a:solidFill>
                  <a:srgbClr val="000000"/>
                </a:solidFill>
              </a:rPr>
              <a:t>allowed</a:t>
            </a:r>
            <a:pPr indent="0" marL="0">
              <a:buNone/>
            </a:pPr>
            <a:r>
              <a:rPr lang="en-US" sz="1150" dirty="0">
                <a:solidFill>
                  <a:srgbClr val="000000"/>
                </a:solidFill>
              </a:rPr>
              <a:t>.</a:t>
            </a:r>
            <a:endParaRPr lang="en-US" sz="1100" dirty="0"/>
          </a:p>
          <a:p>
            <a:pPr indent="0" marL="0">
              <a:buNone/>
            </a:pPr>
            <a:r>
              <a:rPr lang="en-US" sz="1150" b="1" dirty="0">
                <a:solidFill>
                  <a:schemeClr val="tx2"/>
                </a:solidFill>
              </a:rPr>
              <a:t>Double cycling cuts the average pedestrian wait from about 40 s to about 17 s while vehicles still have plenty of spare green.</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Regions</a:t>
            </a:r>
            <a:endParaRPr lang="en-US" sz="2400" dirty="0"/>
          </a:p>
        </p:txBody>
      </p:sp>
      <p:pic>
        <p:nvPicPr>
          <p:cNvPr id="3" name="Image 0" descr="Mind map of Regions, nodes and double cycling">    </p:cNvPr>
          <p:cNvPicPr>
            <a:picLocks noChangeAspect="1"/>
          </p:cNvPicPr>
          <p:nvPr/>
        </p:nvPicPr>
        <p:blipFill>
          <a:blip r:embed="rId1"/>
          <a:stretch>
            <a:fillRect/>
          </a:stretch>
        </p:blipFill>
        <p:spPr>
          <a:xfrm>
            <a:off x="411480" y="1158844"/>
            <a:ext cx="8321040" cy="1659952"/>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1: STAGE DOOR</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stage door the whole orchestra marches in, every foot landing on one giant metronome's tick. A tiny triangle player at the back skips two steps for every one tick, grinning, never falling out of time.</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Double cycling does not give the crossing its own independent cycle. It runs exactly two cycles per region cycle, so it stays coordinated. A node with a truly different cycle would belong to another region.</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4505A"/>
                </a:solidFill>
              </a:rPr>
              <a:t>2  </a:t>
            </a:r>
            <a:pPr indent="0" marL="0">
              <a:buNone/>
            </a:pPr>
            <a:r>
              <a:rPr lang="en-US" sz="2400" b="1" dirty="0">
                <a:solidFill>
                  <a:schemeClr val="tx2"/>
                </a:solidFill>
              </a:rPr>
              <a:t>The split optimiser</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Two children share a seesaw that should stay level. Every few seconds a helper may move a 4 kg bag to one side, or leave it. To remember the lesson, the helper also glues 1 kg to that side for good.</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Before every stage change: −4, 0 or +4</a:t>
            </a:r>
            <a:endParaRPr lang="en-US" sz="1600" dirty="0"/>
          </a:p>
          <a:p>
            <a:pPr marL="342900" indent="-342900">
              <a:spcAft>
                <a:spcPts val="800"/>
              </a:spcAft>
              <a:buSzPct val="100000"/>
              <a:buChar char="•"/>
            </a:pPr>
            <a:r>
              <a:rPr lang="en-US" sz="1600" dirty="0">
                <a:solidFill>
                  <a:schemeClr val="tx1"/>
                </a:solidFill>
              </a:rPr>
              <a:t>Score each option by its worst DoS</a:t>
            </a:r>
            <a:endParaRPr lang="en-US" sz="1600" dirty="0"/>
          </a:p>
          <a:p>
            <a:pPr marL="342900" indent="-342900">
              <a:spcAft>
                <a:spcPts val="800"/>
              </a:spcAft>
              <a:buSzPct val="100000"/>
              <a:buChar char="•"/>
            </a:pPr>
            <a:r>
              <a:rPr lang="en-US" sz="1600" dirty="0">
                <a:solidFill>
                  <a:schemeClr val="tx1"/>
                </a:solidFill>
              </a:rPr>
              <a:t>Temporary ±4 s, permanent ±1 s</a:t>
            </a:r>
            <a:endParaRPr lang="en-US" sz="1600" dirty="0"/>
          </a:p>
          <a:p>
            <a:pPr marL="342900" indent="-342900">
              <a:spcAft>
                <a:spcPts val="800"/>
              </a:spcAft>
              <a:buSzPct val="100000"/>
              <a:buChar char="•"/>
            </a:pPr>
            <a:r>
              <a:rPr lang="en-US" sz="1600" dirty="0">
                <a:solidFill>
                  <a:schemeClr val="tx1"/>
                </a:solidFill>
              </a:rPr>
              <a:t>Most decisions are 'keep'</a:t>
            </a:r>
            <a:endParaRPr lang="en-US" sz="1600" dirty="0"/>
          </a:p>
        </p:txBody>
      </p:sp>
      <p:sp>
        <p:nvSpPr>
          <p:cNvPr id="7" name="stat card"/>
          <p:cNvSpPr/>
          <p:nvPr/>
        </p:nvSpPr>
        <p:spPr>
          <a:xfrm>
            <a:off x="5806440" y="2240280"/>
            <a:ext cx="2926080" cy="2377440"/>
          </a:xfrm>
          <a:prstGeom prst="roundRect">
            <a:avLst>
              <a:gd name="adj" fmla="val 3077"/>
            </a:avLst>
          </a:prstGeom>
          <a:solidFill>
            <a:srgbClr val="04505A"/>
          </a:solidFill>
          <a:ln w="12700">
            <a:solidFill>
              <a:srgbClr val="04505A"/>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88%</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split decisions that were 'keep' in our SUMO run</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Choose −4, 0 or +4</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score(option) = highest DoS among links in both stages</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DoS = demand per cycle ÷ (green × SATO)</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Two stages, 60 s cycle, 50 s of green in total. Now: stage A 30 s, stage B 20 s. Demand A 24 LPU, B 10 LPU per cycle. SATO 1.0 LPU/s for both.</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−4 (A 26, B 24): DoS A = 24 ÷ 26 = 0.92; B = 10 ÷ 24 = 0.42; highest </a:t>
            </a:r>
            <a:pPr indent="0" marL="0">
              <a:buNone/>
            </a:pPr>
            <a:r>
              <a:rPr lang="en-US" sz="1150" b="1" dirty="0">
                <a:solidFill>
                  <a:srgbClr val="000000"/>
                </a:solidFill>
              </a:rPr>
              <a:t>0.92</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0 (A 30, B 20): A = 24 ÷ 30 = 0.80; B = 10 ÷ 20 = 0.50; highest </a:t>
            </a:r>
            <a:pPr indent="0" marL="0">
              <a:buNone/>
            </a:pPr>
            <a:r>
              <a:rPr lang="en-US" sz="1150" b="1" dirty="0">
                <a:solidFill>
                  <a:srgbClr val="000000"/>
                </a:solidFill>
              </a:rPr>
              <a:t>0.80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+4 (A 34, B 16): A = 24 ÷ 34 = 0.71; B = 10 ÷ 16 = 0.63; highest </a:t>
            </a:r>
            <a:pPr indent="0" marL="0">
              <a:buNone/>
            </a:pPr>
            <a:r>
              <a:rPr lang="en-US" sz="1150" b="1" dirty="0">
                <a:solidFill>
                  <a:srgbClr val="000000"/>
                </a:solidFill>
              </a:rPr>
              <a:t>0.71</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Lowest highest DoS: </a:t>
            </a:r>
            <a:pPr indent="0" marL="0">
              <a:buNone/>
            </a:pPr>
            <a:r>
              <a:rPr lang="en-US" sz="1150" b="1" dirty="0">
                <a:solidFill>
                  <a:srgbClr val="000000"/>
                </a:solidFill>
              </a:rPr>
              <a:t>+4</a:t>
            </a:r>
            <a:pPr indent="0" marL="0">
              <a:buNone/>
            </a:pPr>
            <a:r>
              <a:rPr lang="en-US" sz="1150" dirty="0">
                <a:solidFill>
                  <a:srgbClr val="000000"/>
                </a:solidFill>
              </a:rPr>
              <a:t>. A runs 34 s this cycle.</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Permanent change: stored green A goes from 30 to </a:t>
            </a:r>
            <a:pPr indent="0" marL="0">
              <a:buNone/>
            </a:pPr>
            <a:r>
              <a:rPr lang="en-US" sz="1150" b="1" dirty="0">
                <a:solidFill>
                  <a:srgbClr val="000000"/>
                </a:solidFill>
              </a:rPr>
              <a:t>31 s</a:t>
            </a:r>
            <a:pPr indent="0" marL="0">
              <a:buNone/>
            </a:pPr>
            <a:r>
              <a:rPr lang="en-US" sz="1150" dirty="0">
                <a:solidFill>
                  <a:srgbClr val="000000"/>
                </a:solidFill>
              </a:rPr>
              <a:t>.</a:t>
            </a:r>
            <a:endParaRPr lang="en-US" sz="1100" dirty="0"/>
          </a:p>
          <a:p>
            <a:pPr indent="0" marL="0">
              <a:buNone/>
            </a:pPr>
            <a:r>
              <a:rPr lang="en-US" sz="1150" b="1" dirty="0">
                <a:solidFill>
                  <a:schemeClr val="tx2"/>
                </a:solidFill>
              </a:rPr>
              <a:t>Stage A is the busier one, so SCOOT gives it 4 s more now and 1 s more for the future. If demand stays, the stored plan keeps creeping towards balance.</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Split optimiser</a:t>
            </a:r>
            <a:endParaRPr lang="en-US" sz="2400" dirty="0"/>
          </a:p>
        </p:txBody>
      </p:sp>
      <p:pic>
        <p:nvPicPr>
          <p:cNvPr id="3" name="Image 0" descr="Mind map of The split optimiser">    </p:cNvPr>
          <p:cNvPicPr>
            <a:picLocks noChangeAspect="1"/>
          </p:cNvPicPr>
          <p:nvPr/>
        </p:nvPicPr>
        <p:blipFill>
          <a:blip r:embed="rId1"/>
          <a:stretch>
            <a:fillRect/>
          </a:stretch>
        </p:blipFill>
        <p:spPr>
          <a:xfrm>
            <a:off x="411480" y="1000007"/>
            <a:ext cx="8321040" cy="1977626"/>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2: SEESAW</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 the green room two singers sit on a seesaw. A stagehand stands ready with a 4 kg sandbag; every few seconds he drops it on one end, or shrugs and keeps it. Each time he also glues a single 1 kg weight to that end for ever.</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'+4' does not mean 'add 4 s to every stage'. It moves one stage change 4 s later: the ending stage gains 4 s and the starting stage loses 4 s, so the cycle length stays the same.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2F5A1C"/>
                </a:solidFill>
              </a:rPr>
              <a:t>3  </a:t>
            </a:r>
            <a:pPr indent="0" marL="0">
              <a:buNone/>
            </a:pPr>
            <a:r>
              <a:rPr lang="en-US" sz="2400" b="1" dirty="0">
                <a:solidFill>
                  <a:schemeClr val="tx2"/>
                </a:solidFill>
              </a:rPr>
              <a:t>The offset optimiser</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Imagine finding the lowest point of a valley in thick fog. You can only feel the ground one step to the left and one step to the right. You step towards whichever is lower, again and again, until both sides are higher. You are at the bottom.</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Once per cycle: node −4, 0 or +4</a:t>
            </a:r>
            <a:endParaRPr lang="en-US" sz="1600" dirty="0"/>
          </a:p>
          <a:p>
            <a:pPr marL="342900" indent="-342900">
              <a:spcAft>
                <a:spcPts val="800"/>
              </a:spcAft>
              <a:buSzPct val="100000"/>
              <a:buChar char="•"/>
            </a:pPr>
            <a:r>
              <a:rPr lang="en-US" sz="1600" dirty="0">
                <a:solidFill>
                  <a:schemeClr val="tx1"/>
                </a:solidFill>
              </a:rPr>
              <a:t>Score: PI on links in and out</a:t>
            </a:r>
            <a:endParaRPr lang="en-US" sz="1600" dirty="0"/>
          </a:p>
          <a:p>
            <a:pPr marL="342900" indent="-342900">
              <a:spcAft>
                <a:spcPts val="800"/>
              </a:spcAft>
              <a:buSzPct val="100000"/>
              <a:buChar char="•"/>
            </a:pPr>
            <a:r>
              <a:rPr lang="en-US" sz="1600" dirty="0">
                <a:solidFill>
                  <a:schemeClr val="tx1"/>
                </a:solidFill>
              </a:rPr>
              <a:t>Walks downhill to the best offset</a:t>
            </a:r>
            <a:endParaRPr lang="en-US" sz="1600" dirty="0"/>
          </a:p>
          <a:p>
            <a:pPr marL="342900" indent="-342900">
              <a:spcAft>
                <a:spcPts val="800"/>
              </a:spcAft>
              <a:buSzPct val="100000"/>
              <a:buChar char="•"/>
            </a:pPr>
            <a:r>
              <a:rPr lang="en-US" sz="1600" dirty="0">
                <a:solidFill>
                  <a:schemeClr val="tx1"/>
                </a:solidFill>
              </a:rPr>
              <a:t>Finds the green wave by itself</a:t>
            </a:r>
            <a:endParaRPr lang="en-US" sz="1600" dirty="0"/>
          </a:p>
        </p:txBody>
      </p:sp>
      <p:sp>
        <p:nvSpPr>
          <p:cNvPr id="7" name="stat card"/>
          <p:cNvSpPr/>
          <p:nvPr/>
        </p:nvSpPr>
        <p:spPr>
          <a:xfrm>
            <a:off x="5806440" y="2240280"/>
            <a:ext cx="2926080" cy="2377440"/>
          </a:xfrm>
          <a:prstGeom prst="roundRect">
            <a:avLst>
              <a:gd name="adj" fmla="val 3077"/>
            </a:avLst>
          </a:prstGeom>
          <a:solidFill>
            <a:srgbClr val="2F5A1C"/>
          </a:solidFill>
          <a:ln w="12700">
            <a:solidFill>
              <a:srgbClr val="2F5A1C"/>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230 → 94</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PI after four offset steps in the worked example</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Walking down the PI curve</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PI(offset) = Σ</a:t>
            </a:r>
            <a:pPr algn="ctr" indent="0" marL="0">
              <a:buNone/>
            </a:pPr>
            <a:r>
              <a:rPr lang="en-US" sz="1350" baseline="-40000" dirty="0">
                <a:solidFill>
                  <a:schemeClr val="tx2"/>
                </a:solidFill>
                <a:latin typeface="Cambria" pitchFamily="34" charset="0"/>
                <a:ea typeface="Cambria" pitchFamily="34" charset="-122"/>
                <a:cs typeface="Cambria" pitchFamily="34" charset="-120"/>
              </a:rPr>
              <a:t>links in and out</a:t>
            </a:r>
            <a:pPr algn="ctr" indent="0" marL="0">
              <a:buNone/>
            </a:pPr>
            <a:r>
              <a:rPr lang="en-US" sz="1350" dirty="0">
                <a:solidFill>
                  <a:schemeClr val="tx2"/>
                </a:solidFill>
                <a:latin typeface="Cambria" pitchFamily="34" charset="0"/>
                <a:ea typeface="Cambria" pitchFamily="34" charset="-122"/>
                <a:cs typeface="Cambria" pitchFamily="34" charset="-120"/>
              </a:rPr>
              <a:t> (delay + K × stops)</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new offset = best of { offset − 4, offset, offset + 4 }</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Two nodes 300 m apart (cruise time 22 s), 60 s cycle. The model's PI at each offset is: 4 s → 289, 8 s → 230, 12 s → 167, 16 s → 112, 20 s → 94, 24 s → 108. The node starts at 8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Cycle 1, at 8 s: options 4/8/12 give 289/230/167. Lowest: </a:t>
            </a:r>
            <a:pPr indent="0" marL="0">
              <a:buNone/>
            </a:pPr>
            <a:r>
              <a:rPr lang="en-US" sz="1150" b="1" dirty="0">
                <a:solidFill>
                  <a:srgbClr val="000000"/>
                </a:solidFill>
              </a:rPr>
              <a:t>12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Cycle 2, at 12 s: 230/167/112. Move to </a:t>
            </a:r>
            <a:pPr indent="0" marL="0">
              <a:buNone/>
            </a:pPr>
            <a:r>
              <a:rPr lang="en-US" sz="1150" b="1" dirty="0">
                <a:solidFill>
                  <a:srgbClr val="000000"/>
                </a:solidFill>
              </a:rPr>
              <a:t>16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Cycle 3, at 16 s: 167/112/94. Move to </a:t>
            </a:r>
            <a:pPr indent="0" marL="0">
              <a:buNone/>
            </a:pPr>
            <a:r>
              <a:rPr lang="en-US" sz="1150" b="1" dirty="0">
                <a:solidFill>
                  <a:srgbClr val="000000"/>
                </a:solidFill>
              </a:rPr>
              <a:t>20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Cycle 4, at 20 s: 112/94/108. The middle is lowest: </a:t>
            </a:r>
            <a:pPr indent="0" marL="0">
              <a:buNone/>
            </a:pPr>
            <a:r>
              <a:rPr lang="en-US" sz="1150" b="1" dirty="0">
                <a:solidFill>
                  <a:srgbClr val="000000"/>
                </a:solidFill>
              </a:rPr>
              <a:t>keep 20 s</a:t>
            </a:r>
            <a:pPr indent="0" marL="0">
              <a:buNone/>
            </a:pPr>
            <a:r>
              <a:rPr lang="en-US" sz="1150" dirty="0">
                <a:solidFill>
                  <a:srgbClr val="000000"/>
                </a:solidFill>
              </a:rPr>
              <a:t>.</a:t>
            </a:r>
            <a:endParaRPr lang="en-US" sz="1100" dirty="0"/>
          </a:p>
          <a:p>
            <a:pPr indent="0" marL="0">
              <a:buNone/>
            </a:pPr>
            <a:r>
              <a:rPr lang="en-US" sz="1150" b="1" dirty="0">
                <a:solidFill>
                  <a:schemeClr val="tx2"/>
                </a:solidFill>
              </a:rPr>
              <a:t>In four cycles (four minutes) the offset found the bottom of the curve, and PI fell from 230 to 94. SCOOT never needed to know the distance or the speed.</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Offset optimiser</a:t>
            </a:r>
            <a:endParaRPr lang="en-US" sz="2400" dirty="0"/>
          </a:p>
        </p:txBody>
      </p:sp>
      <p:pic>
        <p:nvPicPr>
          <p:cNvPr id="3" name="Image 0" descr="Mind map of The offset optimiser">    </p:cNvPr>
          <p:cNvPicPr>
            <a:picLocks noChangeAspect="1"/>
          </p:cNvPicPr>
          <p:nvPr/>
        </p:nvPicPr>
        <p:blipFill>
          <a:blip r:embed="rId1"/>
          <a:stretch>
            <a:fillRect/>
          </a:stretch>
        </p:blipFill>
        <p:spPr>
          <a:xfrm>
            <a:off x="411480" y="1051238"/>
            <a:ext cx="8321040" cy="1875164"/>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3: ECHO CORRIDOR</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 a long corridor two drummers try to make their beats meet in the middle. Each cycle the second drummer shuffles 4 steps forward or back, watching a glowing noise meter on the wall, and stops when the meter is at its lowest.</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The offset optimiser uses PI (delay and stops), not DoS. DoS hardly changes with offset, because offset moves when the green happens, not how long it is.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8F3520"/>
                </a:solidFill>
              </a:rPr>
              <a:t>4  </a:t>
            </a:r>
            <a:pPr indent="0" marL="0">
              <a:buNone/>
            </a:pPr>
            <a:r>
              <a:rPr lang="en-US" sz="2400" b="1" dirty="0">
                <a:solidFill>
                  <a:schemeClr val="tx2"/>
                </a:solidFill>
              </a:rPr>
              <a:t>The cycle optimiser</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conductor sets the tempo for the whole orchestra. If the busiest section cannot fit its notes in, the conductor slows down a little. If everyone has time to spare, the conductor speeds up a little. The tempo changes only every few minutes, so the players are never confused.</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Every 5 minutes, 2.5 while rising</a:t>
            </a:r>
            <a:endParaRPr lang="en-US" sz="1600" dirty="0"/>
          </a:p>
          <a:p>
            <a:pPr marL="342900" indent="-342900">
              <a:spcAft>
                <a:spcPts val="800"/>
              </a:spcAft>
              <a:buSzPct val="100000"/>
              <a:buChar char="•"/>
            </a:pPr>
            <a:r>
              <a:rPr lang="en-US" sz="1600" dirty="0">
                <a:solidFill>
                  <a:schemeClr val="tx1"/>
                </a:solidFill>
              </a:rPr>
              <a:t>Critical node decides for the region</a:t>
            </a:r>
            <a:endParaRPr lang="en-US" sz="1600" dirty="0"/>
          </a:p>
          <a:p>
            <a:pPr marL="342900" indent="-342900">
              <a:spcAft>
                <a:spcPts val="800"/>
              </a:spcAft>
              <a:buSzPct val="100000"/>
              <a:buChar char="•"/>
            </a:pPr>
            <a:r>
              <a:rPr lang="en-US" sz="1600" dirty="0">
                <a:solidFill>
                  <a:schemeClr val="tx1"/>
                </a:solidFill>
              </a:rPr>
              <a:t>Above 90% longer, below 80% shorter</a:t>
            </a:r>
            <a:endParaRPr lang="en-US" sz="1600" dirty="0"/>
          </a:p>
          <a:p>
            <a:pPr marL="342900" indent="-342900">
              <a:spcAft>
                <a:spcPts val="800"/>
              </a:spcAft>
              <a:buSzPct val="100000"/>
              <a:buChar char="•"/>
            </a:pPr>
            <a:r>
              <a:rPr lang="en-US" sz="1600" dirty="0">
                <a:solidFill>
                  <a:schemeClr val="tx1"/>
                </a:solidFill>
              </a:rPr>
              <a:t>Steps of 4, 8 or 16 s</a:t>
            </a:r>
            <a:endParaRPr lang="en-US" sz="1600" dirty="0"/>
          </a:p>
        </p:txBody>
      </p:sp>
      <p:sp>
        <p:nvSpPr>
          <p:cNvPr id="7" name="stat card"/>
          <p:cNvSpPr/>
          <p:nvPr/>
        </p:nvSpPr>
        <p:spPr>
          <a:xfrm>
            <a:off x="5806440" y="2240280"/>
            <a:ext cx="2926080" cy="2377440"/>
          </a:xfrm>
          <a:prstGeom prst="roundRect">
            <a:avLst>
              <a:gd name="adj" fmla="val 3077"/>
            </a:avLst>
          </a:prstGeom>
          <a:solidFill>
            <a:srgbClr val="8F3520"/>
          </a:solidFill>
          <a:ln w="12700">
            <a:solidFill>
              <a:srgbClr val="8F3520"/>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40 → 88 s</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cycle growth in the worked peak</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A rising peak</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critical DoS ≈ Y × C ÷ (C − L)</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step = 4 s (C </a:t>
            </a:r>
            <a:pPr algn="ctr" indent="0" marL="0">
              <a:buNone/>
            </a:pPr>
            <a:r>
              <a:rPr lang="en-US" sz="1350" dirty="0">
                <a:solidFill>
                  <a:schemeClr val="tx2"/>
                </a:solidFill>
                <a:latin typeface="Cambria" pitchFamily="34" charset="0"/>
                <a:ea typeface="Cambria" pitchFamily="34" charset="-122"/>
                <a:cs typeface="Cambria" pitchFamily="34" charset="-120"/>
              </a:rPr>
              <a:t>&lt;</a:t>
            </a:r>
            <a:pPr algn="ctr" indent="0" marL="0">
              <a:buNone/>
            </a:pPr>
            <a:r>
              <a:rPr lang="en-US" sz="1350" dirty="0">
                <a:solidFill>
                  <a:schemeClr val="tx2"/>
                </a:solidFill>
                <a:latin typeface="Cambria" pitchFamily="34" charset="0"/>
                <a:ea typeface="Cambria" pitchFamily="34" charset="-122"/>
                <a:cs typeface="Cambria" pitchFamily="34" charset="-120"/>
              </a:rPr>
              <a:t> 64), 8 s (C </a:t>
            </a:r>
            <a:pPr algn="ctr" indent="0" marL="0">
              <a:buNone/>
            </a:pPr>
            <a:r>
              <a:rPr lang="en-US" sz="1350" dirty="0">
                <a:solidFill>
                  <a:schemeClr val="tx2"/>
                </a:solidFill>
                <a:latin typeface="Cambria" pitchFamily="34" charset="0"/>
                <a:ea typeface="Cambria" pitchFamily="34" charset="-122"/>
                <a:cs typeface="Cambria" pitchFamily="34" charset="-120"/>
              </a:rPr>
              <a:t>&lt;</a:t>
            </a:r>
            <a:pPr algn="ctr" indent="0" marL="0">
              <a:buNone/>
            </a:pPr>
            <a:r>
              <a:rPr lang="en-US" sz="1350" dirty="0">
                <a:solidFill>
                  <a:schemeClr val="tx2"/>
                </a:solidFill>
                <a:latin typeface="Cambria" pitchFamily="34" charset="0"/>
                <a:ea typeface="Cambria" pitchFamily="34" charset="-122"/>
                <a:cs typeface="Cambria" pitchFamily="34" charset="-120"/>
              </a:rPr>
              <a:t> 128), 16 s (C ≥ 128)</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Critical node: lost time L = 12 s, flow ratio Y = 0.78 in the peak. The cycle is 40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DoS = 0.78 × 40 ÷ (40 − 12) = 31.2 ÷ 28 = </a:t>
            </a:r>
            <a:pPr indent="0" marL="0">
              <a:buNone/>
            </a:pPr>
            <a:r>
              <a:rPr lang="en-US" sz="1150" b="1" dirty="0">
                <a:solidFill>
                  <a:srgbClr val="000000"/>
                </a:solidFill>
              </a:rPr>
              <a:t>1.11</a:t>
            </a:r>
            <a:pPr indent="0" marL="0">
              <a:buNone/>
            </a:pPr>
            <a:r>
              <a:rPr lang="en-US" sz="1150" dirty="0">
                <a:solidFill>
                  <a:srgbClr val="000000"/>
                </a:solidFill>
              </a:rPr>
              <a:t>. Above 0.90 → up 4 s to </a:t>
            </a:r>
            <a:pPr indent="0" marL="0">
              <a:buNone/>
            </a:pPr>
            <a:r>
              <a:rPr lang="en-US" sz="1150" b="1" dirty="0">
                <a:solidFill>
                  <a:srgbClr val="000000"/>
                </a:solidFill>
              </a:rPr>
              <a:t>44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2.5 min later: 0.78 × 44 ÷ 32 = </a:t>
            </a:r>
            <a:pPr indent="0" marL="0">
              <a:buNone/>
            </a:pPr>
            <a:r>
              <a:rPr lang="en-US" sz="1150" b="1" dirty="0">
                <a:solidFill>
                  <a:srgbClr val="000000"/>
                </a:solidFill>
              </a:rPr>
              <a:t>1.07</a:t>
            </a:r>
            <a:pPr indent="0" marL="0">
              <a:buNone/>
            </a:pPr>
            <a:r>
              <a:rPr lang="en-US" sz="1150" dirty="0">
                <a:solidFill>
                  <a:srgbClr val="000000"/>
                </a:solidFill>
              </a:rPr>
              <a:t>. Still above → </a:t>
            </a:r>
            <a:pPr indent="0" marL="0">
              <a:buNone/>
            </a:pPr>
            <a:r>
              <a:rPr lang="en-US" sz="1150" b="1" dirty="0">
                <a:solidFill>
                  <a:srgbClr val="000000"/>
                </a:solidFill>
              </a:rPr>
              <a:t>48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At 64 s: 0.78 × 64 ÷ 52 = </a:t>
            </a:r>
            <a:pPr indent="0" marL="0">
              <a:buNone/>
            </a:pPr>
            <a:r>
              <a:rPr lang="en-US" sz="1150" b="1" dirty="0">
                <a:solidFill>
                  <a:srgbClr val="000000"/>
                </a:solidFill>
              </a:rPr>
              <a:t>0.96</a:t>
            </a:r>
            <a:pPr indent="0" marL="0">
              <a:buNone/>
            </a:pPr>
            <a:r>
              <a:rPr lang="en-US" sz="1150" dirty="0">
                <a:solidFill>
                  <a:srgbClr val="000000"/>
                </a:solidFill>
              </a:rPr>
              <a:t>. The step is now 8 s → </a:t>
            </a:r>
            <a:pPr indent="0" marL="0">
              <a:buNone/>
            </a:pPr>
            <a:r>
              <a:rPr lang="en-US" sz="1150" b="1" dirty="0">
                <a:solidFill>
                  <a:srgbClr val="000000"/>
                </a:solidFill>
              </a:rPr>
              <a:t>72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At 80 s: 0.78 × 80 ÷ 68 = </a:t>
            </a:r>
            <a:pPr indent="0" marL="0">
              <a:buNone/>
            </a:pPr>
            <a:r>
              <a:rPr lang="en-US" sz="1150" b="1" dirty="0">
                <a:solidFill>
                  <a:srgbClr val="000000"/>
                </a:solidFill>
              </a:rPr>
              <a:t>0.92</a:t>
            </a:r>
            <a:pPr indent="0" marL="0">
              <a:buNone/>
            </a:pPr>
            <a:r>
              <a:rPr lang="en-US" sz="1150" dirty="0">
                <a:solidFill>
                  <a:srgbClr val="000000"/>
                </a:solidFill>
              </a:rPr>
              <a:t> → </a:t>
            </a:r>
            <a:pPr indent="0" marL="0">
              <a:buNone/>
            </a:pPr>
            <a:r>
              <a:rPr lang="en-US" sz="1150" b="1" dirty="0">
                <a:solidFill>
                  <a:srgbClr val="000000"/>
                </a:solidFill>
              </a:rPr>
              <a:t>88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At 88 s the peak eases (Y = 0.70): 0.70 × 88 ÷ 76 = </a:t>
            </a:r>
            <a:pPr indent="0" marL="0">
              <a:buNone/>
            </a:pPr>
            <a:r>
              <a:rPr lang="en-US" sz="1150" b="1" dirty="0">
                <a:solidFill>
                  <a:srgbClr val="000000"/>
                </a:solidFill>
              </a:rPr>
              <a:t>0.81</a:t>
            </a:r>
            <a:pPr indent="0" marL="0">
              <a:buNone/>
            </a:pPr>
            <a:r>
              <a:rPr lang="en-US" sz="1150" dirty="0">
                <a:solidFill>
                  <a:srgbClr val="000000"/>
                </a:solidFill>
              </a:rPr>
              <a:t>. Between 0.80 and 0.90 → </a:t>
            </a:r>
            <a:pPr indent="0" marL="0">
              <a:buNone/>
            </a:pPr>
            <a:r>
              <a:rPr lang="en-US" sz="1150" b="1" dirty="0">
                <a:solidFill>
                  <a:srgbClr val="000000"/>
                </a:solidFill>
              </a:rPr>
              <a:t>hold</a:t>
            </a:r>
            <a:pPr indent="0" marL="0">
              <a:buNone/>
            </a:pPr>
            <a:r>
              <a:rPr lang="en-US" sz="1150" dirty="0">
                <a:solidFill>
                  <a:srgbClr val="000000"/>
                </a:solidFill>
              </a:rPr>
              <a:t>.</a:t>
            </a:r>
            <a:endParaRPr lang="en-US" sz="1100" dirty="0"/>
          </a:p>
          <a:p>
            <a:pPr indent="0" marL="0">
              <a:buNone/>
            </a:pPr>
            <a:r>
              <a:rPr lang="en-US" sz="1150" b="1" dirty="0">
                <a:solidFill>
                  <a:schemeClr val="tx2"/>
                </a:solidFill>
              </a:rPr>
              <a:t>Going up takes small steps every 2.5 minutes. Coming down happens only every 5 minutes, so the region can spend a while on a cycle longer than it needs.</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Cycle optimiser</a:t>
            </a:r>
            <a:endParaRPr lang="en-US" sz="2400" dirty="0"/>
          </a:p>
        </p:txBody>
      </p:sp>
      <p:pic>
        <p:nvPicPr>
          <p:cNvPr id="3" name="Image 0" descr="Mind map of The cycle optimiser">    </p:cNvPr>
          <p:cNvPicPr>
            <a:picLocks noChangeAspect="1"/>
          </p:cNvPicPr>
          <p:nvPr/>
        </p:nvPicPr>
        <p:blipFill>
          <a:blip r:embed="rId1"/>
          <a:stretch>
            <a:fillRect/>
          </a:stretch>
        </p:blipFill>
        <p:spPr>
          <a:xfrm>
            <a:off x="411480" y="1045067"/>
            <a:ext cx="8321040" cy="1887507"/>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4: METRONOME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On the podium stands a metronome as tall as a giraffe. Three weights hang on it, stamped 4, 8 and 16. Every five minutes a cuckoo pops out; the conductor glances at a gauge painted red above 90 and slides one weight up or down.</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longer cycle is not always better. It lowers DoS but raises delay for everyone waiting at red. That is why the lab's optimiser also compares PI and why every region has a maximum cycle.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7A4412"/>
                </a:solidFill>
              </a:rPr>
              <a:t>5  </a:t>
            </a:r>
            <a:pPr indent="0" marL="0">
              <a:buNone/>
            </a:pPr>
            <a:r>
              <a:rPr lang="en-US" sz="2400" b="1" dirty="0">
                <a:solidFill>
                  <a:schemeClr val="tx2"/>
                </a:solidFill>
              </a:rPr>
              <a:t>Congestion, exit blocking and gating</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cloakroom with a sensor at the door works fine until the queue for coats reaches the door and sits on the sensor. Then the staff must notice the queue itself. If the cloakroom is about to jam completely, an usher closes the outer door for a moment so the people inside can move.</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Queue over detector: count no longer reliable</a:t>
            </a:r>
            <a:endParaRPr lang="en-US" sz="1600" dirty="0"/>
          </a:p>
          <a:p>
            <a:pPr marL="342900" indent="-342900">
              <a:spcAft>
                <a:spcPts val="800"/>
              </a:spcAft>
              <a:buSzPct val="100000"/>
              <a:buChar char="•"/>
            </a:pPr>
            <a:r>
              <a:rPr lang="en-US" sz="1600" dirty="0">
                <a:solidFill>
                  <a:schemeClr val="tx1"/>
                </a:solidFill>
              </a:rPr>
              <a:t>Congestion importance raises a link's weight</a:t>
            </a:r>
            <a:endParaRPr lang="en-US" sz="1600" dirty="0"/>
          </a:p>
          <a:p>
            <a:pPr marL="342900" indent="-342900">
              <a:spcAft>
                <a:spcPts val="800"/>
              </a:spcAft>
              <a:buSzPct val="100000"/>
              <a:buChar char="•"/>
            </a:pPr>
            <a:r>
              <a:rPr lang="en-US" sz="1600" dirty="0">
                <a:solidFill>
                  <a:schemeClr val="tx1"/>
                </a:solidFill>
              </a:rPr>
              <a:t>Exit blocking: no room beyond the junction</a:t>
            </a:r>
            <a:endParaRPr lang="en-US" sz="1600" dirty="0"/>
          </a:p>
          <a:p>
            <a:pPr marL="342900" indent="-342900">
              <a:spcAft>
                <a:spcPts val="800"/>
              </a:spcAft>
              <a:buSzPct val="100000"/>
              <a:buChar char="•"/>
            </a:pPr>
            <a:r>
              <a:rPr lang="en-US" sz="1600" dirty="0">
                <a:solidFill>
                  <a:schemeClr val="tx1"/>
                </a:solidFill>
              </a:rPr>
              <a:t>Gating stores queues where harmless</a:t>
            </a:r>
            <a:endParaRPr lang="en-US" sz="1600" dirty="0"/>
          </a:p>
        </p:txBody>
      </p:sp>
      <p:sp>
        <p:nvSpPr>
          <p:cNvPr id="7" name="stat card"/>
          <p:cNvSpPr/>
          <p:nvPr/>
        </p:nvSpPr>
        <p:spPr>
          <a:xfrm>
            <a:off x="5806440" y="2240280"/>
            <a:ext cx="2926080" cy="2377440"/>
          </a:xfrm>
          <a:prstGeom prst="roundRect">
            <a:avLst>
              <a:gd name="adj" fmla="val 3077"/>
            </a:avLst>
          </a:prstGeom>
          <a:solidFill>
            <a:srgbClr val="7A4412"/>
          </a:solidFill>
          <a:ln w="12700">
            <a:solidFill>
              <a:srgbClr val="7A4412"/>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0.85 → 1.02</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weighted DoS with 20% congestion, importance 1</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A congested link asks for green</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congestion f = seconds detector blocked by queue ÷ cycle</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weighted DoS = DoS × (1 + importance × f)</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A link has DoS 0.85. In a 60 s cycle its detector is covered by a standing queue for 12 s. Congestion importance = 1.0.</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Congestion f = 12 ÷ 60 = </a:t>
            </a:r>
            <a:pPr indent="0" marL="0">
              <a:buNone/>
            </a:pPr>
            <a:r>
              <a:rPr lang="en-US" sz="1150" b="1" dirty="0">
                <a:solidFill>
                  <a:srgbClr val="000000"/>
                </a:solidFill>
              </a:rPr>
              <a:t>0.20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Weight = 1 + 1.0 × 0.20 = </a:t>
            </a:r>
            <a:pPr indent="0" marL="0">
              <a:buNone/>
            </a:pPr>
            <a:r>
              <a:rPr lang="en-US" sz="1150" b="1" dirty="0">
                <a:solidFill>
                  <a:srgbClr val="000000"/>
                </a:solidFill>
              </a:rPr>
              <a:t>1.20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Weighted DoS = 0.85 × 1.20 = </a:t>
            </a:r>
            <a:pPr indent="0" marL="0">
              <a:buNone/>
            </a:pPr>
            <a:r>
              <a:rPr lang="en-US" sz="1150" b="1" dirty="0">
                <a:solidFill>
                  <a:srgbClr val="000000"/>
                </a:solidFill>
              </a:rPr>
              <a:t>1.02</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Plain DoS 0.85 was under 0.90; weighted 1.02 is </a:t>
            </a:r>
            <a:pPr indent="0" marL="0">
              <a:buNone/>
            </a:pPr>
            <a:r>
              <a:rPr lang="en-US" sz="1150" b="1" dirty="0">
                <a:solidFill>
                  <a:srgbClr val="000000"/>
                </a:solidFill>
              </a:rPr>
              <a:t>above</a:t>
            </a:r>
            <a:pPr indent="0" marL="0">
              <a:buNone/>
            </a:pPr>
            <a:r>
              <a:rPr lang="en-US" sz="1150" dirty="0">
                <a:solidFill>
                  <a:srgbClr val="000000"/>
                </a:solidFill>
              </a:rPr>
              <a:t> it.</a:t>
            </a:r>
            <a:endParaRPr lang="en-US" sz="1100" dirty="0"/>
          </a:p>
          <a:p>
            <a:pPr indent="0" marL="0">
              <a:buNone/>
            </a:pPr>
            <a:r>
              <a:rPr lang="en-US" sz="1150" b="1" dirty="0">
                <a:solidFill>
                  <a:schemeClr val="tx2"/>
                </a:solidFill>
              </a:rPr>
              <a:t>The split optimiser now treats this link as the worst one and moves green towards it, before its queue spills back into the junction upstream.</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Congestion &amp; gating</a:t>
            </a:r>
            <a:endParaRPr lang="en-US" sz="2400" dirty="0"/>
          </a:p>
        </p:txBody>
      </p:sp>
      <p:pic>
        <p:nvPicPr>
          <p:cNvPr id="3" name="Image 0" descr="Mind map of Congestion, exit blocking and gating">    </p:cNvPr>
          <p:cNvPicPr>
            <a:picLocks noChangeAspect="1"/>
          </p:cNvPicPr>
          <p:nvPr/>
        </p:nvPicPr>
        <p:blipFill>
          <a:blip r:embed="rId1"/>
          <a:stretch>
            <a:fillRect/>
          </a:stretch>
        </p:blipFill>
        <p:spPr>
          <a:xfrm>
            <a:off x="411480" y="1287912"/>
            <a:ext cx="8321040" cy="1401817"/>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5: CLOAKROOM</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 the foyer a mountain of coats has piled up over the doorway's motion sensor, which flashes 'BUSY' forever. An usher in white gloves swings the outer gate shut, and outside on the long lawn concert-goers queue happily with picnic blankets.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Gating deliberately makes some drivers wait longer. It is worth it only if the queue it creates sits somewhere harmless (a long link) and the bottleneck it protects would otherwise lock up and lose capacity for everyone.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5A2F38"/>
                </a:solidFill>
              </a:rPr>
              <a:t>6  </a:t>
            </a:r>
            <a:pPr indent="0" marL="0">
              <a:buNone/>
            </a:pPr>
            <a:r>
              <a:rPr lang="en-US" sz="2400" b="1" dirty="0">
                <a:solidFill>
                  <a:schemeClr val="tx2"/>
                </a:solidFill>
              </a:rPr>
              <a:t>Bus priority: extensions and recalls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host holding a lift door for someone running down the corridor is an extension. Pressing 'close' early to fetch someone waiting on another floor is a recall. Either way, the lift then gets back to its normal routine.</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Buses detected by GPS or detector</a:t>
            </a:r>
            <a:endParaRPr lang="en-US" sz="1600" dirty="0"/>
          </a:p>
          <a:p>
            <a:pPr marL="342900" indent="-342900">
              <a:spcAft>
                <a:spcPts val="800"/>
              </a:spcAft>
              <a:buSzPct val="100000"/>
              <a:buChar char="•"/>
            </a:pPr>
            <a:r>
              <a:rPr lang="en-US" sz="1600" dirty="0">
                <a:solidFill>
                  <a:schemeClr val="tx1"/>
                </a:solidFill>
              </a:rPr>
              <a:t>Extension: hold the green a little</a:t>
            </a:r>
            <a:endParaRPr lang="en-US" sz="1600" dirty="0"/>
          </a:p>
          <a:p>
            <a:pPr marL="342900" indent="-342900">
              <a:spcAft>
                <a:spcPts val="800"/>
              </a:spcAft>
              <a:buSzPct val="100000"/>
              <a:buChar char="•"/>
            </a:pPr>
            <a:r>
              <a:rPr lang="en-US" sz="1600" dirty="0">
                <a:solidFill>
                  <a:schemeClr val="tx1"/>
                </a:solidFill>
              </a:rPr>
              <a:t>Recall: bring the bus stage early</a:t>
            </a:r>
            <a:endParaRPr lang="en-US" sz="1600" dirty="0"/>
          </a:p>
          <a:p>
            <a:pPr marL="342900" indent="-342900">
              <a:spcAft>
                <a:spcPts val="800"/>
              </a:spcAft>
              <a:buSzPct val="100000"/>
              <a:buChar char="•"/>
            </a:pPr>
            <a:r>
              <a:rPr lang="en-US" sz="1600" dirty="0">
                <a:solidFill>
                  <a:schemeClr val="tx1"/>
                </a:solidFill>
              </a:rPr>
              <a:t>Recover the plan in 1-2 cycles</a:t>
            </a:r>
            <a:endParaRPr lang="en-US" sz="1600" dirty="0"/>
          </a:p>
        </p:txBody>
      </p:sp>
      <p:sp>
        <p:nvSpPr>
          <p:cNvPr id="7" name="stat card"/>
          <p:cNvSpPr/>
          <p:nvPr/>
        </p:nvSpPr>
        <p:spPr>
          <a:xfrm>
            <a:off x="5806440" y="2240280"/>
            <a:ext cx="2926080" cy="2377440"/>
          </a:xfrm>
          <a:prstGeom prst="roundRect">
            <a:avLst>
              <a:gd name="adj" fmla="val 3077"/>
            </a:avLst>
          </a:prstGeom>
          <a:solidFill>
            <a:srgbClr val="5A2F38"/>
          </a:solidFill>
          <a:ln w="12700">
            <a:solidFill>
              <a:srgbClr val="5A2F38"/>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22.9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mean bus delay with priority (34.7 s without)</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Extension or recall?</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extension possible if arrival ≤ green end + maximum extension</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bus saving = wait without priority − wait with priority</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Cycle 80 s. Stage A (bus road) green 0-40 s, intergreen 5 s, stage B green 45-75 s, intergreen 5 s. Max extension 12 s. Minimum green for B 7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Bus 1 reaches the stop line at 46 s. Without priority it waits until A returns at 80 s: </a:t>
            </a:r>
            <a:pPr indent="0" marL="0">
              <a:buNone/>
            </a:pPr>
            <a:r>
              <a:rPr lang="en-US" sz="1150" b="1" dirty="0">
                <a:solidFill>
                  <a:srgbClr val="000000"/>
                </a:solidFill>
              </a:rPr>
              <a:t>34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46 ≤ 40 + 12 = 52, so extend A to 46 s: wait </a:t>
            </a:r>
            <a:pPr indent="0" marL="0">
              <a:buNone/>
            </a:pPr>
            <a:r>
              <a:rPr lang="en-US" sz="1150" b="1" dirty="0">
                <a:solidFill>
                  <a:srgbClr val="000000"/>
                </a:solidFill>
              </a:rPr>
              <a:t>0 s</a:t>
            </a:r>
            <a:pPr indent="0" marL="0">
              <a:buNone/>
            </a:pPr>
            <a:r>
              <a:rPr lang="en-US" sz="1150" dirty="0">
                <a:solidFill>
                  <a:srgbClr val="000000"/>
                </a:solidFill>
              </a:rPr>
              <a:t>. Saving 34 s.</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Bus 2 is detected at 56 s and will arrive at 65 s. Without priority: 80 − 65 = </a:t>
            </a:r>
            <a:pPr indent="0" marL="0">
              <a:buNone/>
            </a:pPr>
            <a:r>
              <a:rPr lang="en-US" sz="1150" b="1" dirty="0">
                <a:solidFill>
                  <a:srgbClr val="000000"/>
                </a:solidFill>
              </a:rPr>
              <a:t>15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Recall: B has had 11 s (≥ 7 s minimum), so cut it at 56 s; after the 5 s intergreen A is green at 61 s.</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Bus 2 arrives at 65 s on green: wait </a:t>
            </a:r>
            <a:pPr indent="0" marL="0">
              <a:buNone/>
            </a:pPr>
            <a:r>
              <a:rPr lang="en-US" sz="1150" b="1" dirty="0">
                <a:solidFill>
                  <a:srgbClr val="000000"/>
                </a:solidFill>
              </a:rPr>
              <a:t>0 s</a:t>
            </a:r>
            <a:pPr indent="0" marL="0">
              <a:buNone/>
            </a:pPr>
            <a:r>
              <a:rPr lang="en-US" sz="1150" dirty="0">
                <a:solidFill>
                  <a:srgbClr val="000000"/>
                </a:solidFill>
              </a:rPr>
              <a:t>. Saving 15 s.</a:t>
            </a:r>
            <a:endParaRPr lang="en-US" sz="1100" dirty="0"/>
          </a:p>
          <a:p>
            <a:pPr indent="0" marL="0">
              <a:buNone/>
            </a:pPr>
            <a:r>
              <a:rPr lang="en-US" sz="1150" b="1" dirty="0">
                <a:solidFill>
                  <a:schemeClr val="tx2"/>
                </a:solidFill>
              </a:rPr>
              <a:t>Extensions help buses that just miss the green; recalls help buses that arrive mid-red. Stage B lost 6 s and 19 s respectively, which SCOOT recovers over the next cycles.</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Bus priority</a:t>
            </a:r>
            <a:endParaRPr lang="en-US" sz="2400" dirty="0"/>
          </a:p>
        </p:txBody>
      </p:sp>
      <p:pic>
        <p:nvPicPr>
          <p:cNvPr id="3" name="Image 0" descr="Mind map of Bus priority: extensions and recalls">    </p:cNvPr>
          <p:cNvPicPr>
            <a:picLocks noChangeAspect="1"/>
          </p:cNvPicPr>
          <p:nvPr/>
        </p:nvPicPr>
        <p:blipFill>
          <a:blip r:embed="rId1"/>
          <a:stretch>
            <a:fillRect/>
          </a:stretch>
        </p:blipFill>
        <p:spPr>
          <a:xfrm>
            <a:off x="411480" y="1200383"/>
            <a:ext cx="8321040" cy="1576873"/>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6: BUS IN THE PIT</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red double-decker bus rolls into the orchestra pit. The conductor holds the last violin note on and on until the bus has squeezed past (extension), then later cuts a song short with a crash of cymbals to let a second bus in (recall).</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Priority is not free. Every second given to the bus stage is taken from another stage this cycle. That is why extensions are capped, recalls respect minimum greens, and recovery restores the plan quickly.</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3F3266"/>
                </a:solidFill>
              </a:rPr>
              <a:t>7  </a:t>
            </a:r>
            <a:pPr indent="0" marL="0">
              <a:buNone/>
            </a:pPr>
            <a:r>
              <a:rPr lang="en-US" sz="2400" b="1" dirty="0">
                <a:solidFill>
                  <a:schemeClr val="tx2"/>
                </a:solidFill>
              </a:rPr>
              <a:t>The wider SCOOT system</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good doctor keeps your records. When you come in with a temperature, she compares it with your normal readings, not with someone else's. ASTRID is the records cabinet; INGRID is the doctor who says 'this is not normal for you'.</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ASTRID: stores history and profiles</a:t>
            </a:r>
            <a:endParaRPr lang="en-US" sz="1600" dirty="0"/>
          </a:p>
          <a:p>
            <a:pPr marL="342900" indent="-342900">
              <a:spcAft>
                <a:spcPts val="800"/>
              </a:spcAft>
              <a:buSzPct val="100000"/>
              <a:buChar char="•"/>
            </a:pPr>
            <a:r>
              <a:rPr lang="en-US" sz="1600" dirty="0">
                <a:solidFill>
                  <a:schemeClr val="tx1"/>
                </a:solidFill>
              </a:rPr>
              <a:t>INGRID: spots incidents from detector patterns</a:t>
            </a:r>
            <a:endParaRPr lang="en-US" sz="1600" dirty="0"/>
          </a:p>
          <a:p>
            <a:pPr marL="342900" indent="-342900">
              <a:spcAft>
                <a:spcPts val="800"/>
              </a:spcAft>
              <a:buSzPct val="100000"/>
              <a:buChar char="•"/>
            </a:pPr>
            <a:r>
              <a:rPr lang="en-US" sz="1600" dirty="0">
                <a:solidFill>
                  <a:schemeClr val="tx1"/>
                </a:solidFill>
              </a:rPr>
              <a:t>Emissions, pedestrians, cooperative vehicles</a:t>
            </a:r>
            <a:endParaRPr lang="en-US" sz="1600" dirty="0"/>
          </a:p>
          <a:p>
            <a:pPr marL="342900" indent="-342900">
              <a:spcAft>
                <a:spcPts val="800"/>
              </a:spcAft>
              <a:buSzPct val="100000"/>
              <a:buChar char="•"/>
            </a:pPr>
            <a:r>
              <a:rPr lang="en-US" sz="1600" dirty="0">
                <a:solidFill>
                  <a:schemeClr val="tx1"/>
                </a:solidFill>
              </a:rPr>
              <a:t>Same principles live on in newer systems</a:t>
            </a:r>
            <a:endParaRPr lang="en-US" sz="1600" dirty="0"/>
          </a:p>
        </p:txBody>
      </p:sp>
      <p:sp>
        <p:nvSpPr>
          <p:cNvPr id="7" name="stat card"/>
          <p:cNvSpPr/>
          <p:nvPr/>
        </p:nvSpPr>
        <p:spPr>
          <a:xfrm>
            <a:off x="5806440" y="2240280"/>
            <a:ext cx="2926080" cy="2377440"/>
          </a:xfrm>
          <a:prstGeom prst="roundRect">
            <a:avLst>
              <a:gd name="adj" fmla="val 3077"/>
            </a:avLst>
          </a:prstGeom>
          <a:solidFill>
            <a:srgbClr val="3F3266"/>
          </a:solidFill>
          <a:ln w="12700">
            <a:solidFill>
              <a:srgbClr val="3F3266"/>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2020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SCOOT 7: cooperative data and cloud-first design</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Does today look normal?</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4F0"/>
          </a:solidFill>
          <a:ln w="12700">
            <a:solidFill>
              <a:srgbClr val="EEF4F0"/>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ratio = flow now ÷ historic flow for this time</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At 08:15 on a weekday, ASTRID's historic profile for a link says 60 LPU per 5 minutes. Today the detector shows 12 LPU, and the detector is occupied 85% of the time (normally 20%).</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Flow ratio = 12 ÷ 60 = </a:t>
            </a:r>
            <a:pPr indent="0" marL="0">
              <a:buNone/>
            </a:pPr>
            <a:r>
              <a:rPr lang="en-US" sz="1150" b="1" dirty="0">
                <a:solidFill>
                  <a:srgbClr val="000000"/>
                </a:solidFill>
              </a:rPr>
              <a:t>0.20</a:t>
            </a:r>
            <a:pPr indent="0" marL="0">
              <a:buNone/>
            </a:pPr>
            <a:r>
              <a:rPr lang="en-US" sz="1150" dirty="0">
                <a:solidFill>
                  <a:srgbClr val="000000"/>
                </a:solidFill>
              </a:rPr>
              <a:t>: one fifth of normal flow.</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Occupancy ratio = 85 ÷ 20 = </a:t>
            </a:r>
            <a:pPr indent="0" marL="0">
              <a:buNone/>
            </a:pPr>
            <a:r>
              <a:rPr lang="en-US" sz="1150" b="1" dirty="0">
                <a:solidFill>
                  <a:srgbClr val="000000"/>
                </a:solidFill>
              </a:rPr>
              <a:t>4.25</a:t>
            </a:r>
            <a:pPr indent="0" marL="0">
              <a:buNone/>
            </a:pPr>
            <a:r>
              <a:rPr lang="en-US" sz="1150" dirty="0">
                <a:solidFill>
                  <a:srgbClr val="000000"/>
                </a:solidFill>
              </a:rPr>
              <a:t> times normal.</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Low flow plus high occupancy means traffic is standing, not absent.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This pattern is typical of a blockage downstream: </a:t>
            </a:r>
            <a:pPr indent="0" marL="0">
              <a:buNone/>
            </a:pPr>
            <a:r>
              <a:rPr lang="en-US" sz="1150" b="1" dirty="0">
                <a:solidFill>
                  <a:srgbClr val="000000"/>
                </a:solidFill>
              </a:rPr>
              <a:t>raise an incident alert</a:t>
            </a:r>
            <a:pPr indent="0" marL="0">
              <a:buNone/>
            </a:pPr>
            <a:r>
              <a:rPr lang="en-US" sz="1150" dirty="0">
                <a:solidFill>
                  <a:srgbClr val="000000"/>
                </a:solidFill>
              </a:rPr>
              <a:t>.</a:t>
            </a:r>
            <a:endParaRPr lang="en-US" sz="1100" dirty="0"/>
          </a:p>
          <a:p>
            <a:pPr indent="0" marL="0">
              <a:buNone/>
            </a:pPr>
            <a:r>
              <a:rPr lang="en-US" sz="1150" b="1" dirty="0">
                <a:solidFill>
                  <a:schemeClr val="tx2"/>
                </a:solidFill>
              </a:rPr>
              <a:t>Low flow alone could mean an empty road at night. Low flow with very high occupancy means a queue that is not moving. Comparing with history is what makes the difference visible.</a:t>
            </a:r>
            <a:endParaRPr lang="en-US" sz="1100" dirty="0"/>
          </a:p>
        </p:txBody>
      </p:sp>
      <p:pic>
        <p:nvPicPr>
          <p:cNvPr id="6" name="Image 0" descr="How the wider system uses SCOOT's data.">    </p:cNvPr>
          <p:cNvPicPr>
            <a:picLocks noChangeAspect="1"/>
          </p:cNvPicPr>
          <p:nvPr/>
        </p:nvPicPr>
        <p:blipFill>
          <a:blip r:embed="rId1"/>
          <a:stretch>
            <a:fillRect/>
          </a:stretch>
        </p:blipFill>
        <p:spPr>
          <a:xfrm>
            <a:off x="4709160" y="1994352"/>
            <a:ext cx="4023360" cy="2073769"/>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Wider system</a:t>
            </a:r>
            <a:endParaRPr lang="en-US" sz="2400" dirty="0"/>
          </a:p>
        </p:txBody>
      </p:sp>
      <p:pic>
        <p:nvPicPr>
          <p:cNvPr id="3" name="Image 0" descr="Mind map of The wider SCOOT system">    </p:cNvPr>
          <p:cNvPicPr>
            <a:picLocks noChangeAspect="1"/>
          </p:cNvPicPr>
          <p:nvPr/>
        </p:nvPicPr>
        <p:blipFill>
          <a:blip r:embed="rId1"/>
          <a:stretch>
            <a:fillRect/>
          </a:stretch>
        </p:blipFill>
        <p:spPr>
          <a:xfrm>
            <a:off x="411480" y="1108786"/>
            <a:ext cx="8321040" cy="1760069"/>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7: ARCHIVE ROOM</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Behind the stage is a dusty archive where an archivist named Astrid files a recording of every concert. Her twin sister Ingrid listens to tonight's music through a brass trumpet and rings a fire bell the moment it sounds unlike the recordings.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Historic substitution is a fallback, not a fix. A link running on yesterday's profile cannot react to today's surprise, so failed detectors must still be repaired quickly. (Mastery tests exactly this.)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4A4A5A"/>
                </a:solidFill>
              </a:rPr>
              <a:t>8  </a:t>
            </a:r>
            <a:pPr indent="0" marL="0">
              <a:buNone/>
            </a:pPr>
            <a:r>
              <a:rPr lang="en-US" sz="2400" b="1" dirty="0">
                <a:solidFill>
                  <a:schemeClr val="tx2"/>
                </a:solidFill>
              </a:rPr>
              <a:t>The full system on a SUMO region</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To learn what each part of a car does, a mechanic removes one part at a time and test-drives it. Remove the steering and you crash; remove the radio and nothing changes. An ablation study does the same with SCOOT's mechanisms.</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Four junctions, tidal peaks, buses every 4 min</a:t>
            </a:r>
            <a:endParaRPr lang="en-US" sz="1600" dirty="0"/>
          </a:p>
          <a:p>
            <a:pPr marL="342900" indent="-342900">
              <a:spcAft>
                <a:spcPts val="800"/>
              </a:spcAft>
              <a:buSzPct val="100000"/>
              <a:buChar char="•"/>
            </a:pPr>
            <a:r>
              <a:rPr lang="en-US" sz="1600" dirty="0">
                <a:solidFill>
                  <a:schemeClr val="tx1"/>
                </a:solidFill>
              </a:rPr>
              <a:t>SCOOT: −65% delay against fixed time</a:t>
            </a:r>
            <a:endParaRPr lang="en-US" sz="1600" dirty="0"/>
          </a:p>
          <a:p>
            <a:pPr marL="342900" indent="-342900">
              <a:spcAft>
                <a:spcPts val="800"/>
              </a:spcAft>
              <a:buSzPct val="100000"/>
              <a:buChar char="•"/>
            </a:pPr>
            <a:r>
              <a:rPr lang="en-US" sz="1600" dirty="0">
                <a:solidFill>
                  <a:schemeClr val="tx1"/>
                </a:solidFill>
              </a:rPr>
              <a:t>Split optimiser matters most</a:t>
            </a:r>
            <a:endParaRPr lang="en-US" sz="1600" dirty="0"/>
          </a:p>
          <a:p>
            <a:pPr marL="342900" indent="-342900">
              <a:spcAft>
                <a:spcPts val="800"/>
              </a:spcAft>
              <a:buSzPct val="100000"/>
              <a:buChar char="•"/>
            </a:pPr>
            <a:r>
              <a:rPr lang="en-US" sz="1600" dirty="0">
                <a:solidFill>
                  <a:schemeClr val="tx1"/>
                </a:solidFill>
              </a:rPr>
              <a:t>Honest surprises: fixed cycle, congestion</a:t>
            </a:r>
            <a:endParaRPr lang="en-US" sz="1600" dirty="0"/>
          </a:p>
        </p:txBody>
      </p:sp>
      <p:sp>
        <p:nvSpPr>
          <p:cNvPr id="7" name="stat card"/>
          <p:cNvSpPr/>
          <p:nvPr/>
        </p:nvSpPr>
        <p:spPr>
          <a:xfrm>
            <a:off x="5806440" y="2240280"/>
            <a:ext cx="2926080" cy="2377440"/>
          </a:xfrm>
          <a:prstGeom prst="roundRect">
            <a:avLst>
              <a:gd name="adj" fmla="val 3077"/>
            </a:avLst>
          </a:prstGeom>
          <a:solidFill>
            <a:srgbClr val="4A4A5A"/>
          </a:solidFill>
          <a:ln w="12700">
            <a:solidFill>
              <a:srgbClr val="4A4A5A"/>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−65%</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delay vs fixed time on the SUMO region</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Reading the results</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4F0"/>
          </a:solidFill>
          <a:ln w="12700">
            <a:solidFill>
              <a:srgbClr val="EEF4F0"/>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change = (new − old) ÷ old × 100%</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Lab A1 and A2 mean delays (s per vehicle): fixed 86.95, actuated 29.07, SCOOT 30.44; no split optimiser 77.30. Bus delay: actuated 37.99, SCOOT 22.92.</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SCOOT vs fixed: (30.44 − 86.95) ÷ 86.95 = </a:t>
            </a:r>
            <a:pPr indent="0" marL="0">
              <a:buNone/>
            </a:pPr>
            <a:r>
              <a:rPr lang="en-US" sz="1150" b="1" dirty="0">
                <a:solidFill>
                  <a:srgbClr val="000000"/>
                </a:solidFill>
              </a:rPr>
              <a:t>−65%</a:t>
            </a:r>
            <a:pPr indent="0" marL="0">
              <a:buNone/>
            </a:pPr>
            <a:r>
              <a:rPr lang="en-US" sz="1150" dirty="0">
                <a:solidFill>
                  <a:srgbClr val="000000"/>
                </a:solidFill>
              </a:rPr>
              <a:t> delay.</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SCOOT vs actuated: (30.44 − 29.07) ÷ 29.07 = </a:t>
            </a:r>
            <a:pPr indent="0" marL="0">
              <a:buNone/>
            </a:pPr>
            <a:r>
              <a:rPr lang="en-US" sz="1150" b="1" dirty="0">
                <a:solidFill>
                  <a:srgbClr val="000000"/>
                </a:solidFill>
              </a:rPr>
              <a:t>+4.7%</a:t>
            </a:r>
            <a:pPr indent="0" marL="0">
              <a:buNone/>
            </a:pPr>
            <a:r>
              <a:rPr lang="en-US" sz="1150" dirty="0">
                <a:solidFill>
                  <a:srgbClr val="000000"/>
                </a:solidFill>
              </a:rPr>
              <a:t> delay.</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Bus delay vs actuated: (22.92 − 37.99) ÷ 37.99 = </a:t>
            </a:r>
            <a:pPr indent="0" marL="0">
              <a:buNone/>
            </a:pPr>
            <a:r>
              <a:rPr lang="en-US" sz="1150" b="1" dirty="0">
                <a:solidFill>
                  <a:srgbClr val="000000"/>
                </a:solidFill>
              </a:rPr>
              <a:t>−40%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No split optimiser: 77.30 ÷ 30.44 = </a:t>
            </a:r>
            <a:pPr indent="0" marL="0">
              <a:buNone/>
            </a:pPr>
            <a:r>
              <a:rPr lang="en-US" sz="1150" b="1" dirty="0">
                <a:solidFill>
                  <a:srgbClr val="000000"/>
                </a:solidFill>
              </a:rPr>
              <a:t>2.5 times</a:t>
            </a:r>
            <a:pPr indent="0" marL="0">
              <a:buNone/>
            </a:pPr>
            <a:r>
              <a:rPr lang="en-US" sz="1150" dirty="0">
                <a:solidFill>
                  <a:srgbClr val="000000"/>
                </a:solidFill>
              </a:rPr>
              <a:t> the delay.</a:t>
            </a:r>
            <a:endParaRPr lang="en-US" sz="1100" dirty="0"/>
          </a:p>
          <a:p>
            <a:pPr indent="0" marL="0">
              <a:buNone/>
            </a:pPr>
            <a:r>
              <a:rPr lang="en-US" sz="1150" b="1" dirty="0">
                <a:solidFill>
                  <a:schemeClr val="tx2"/>
                </a:solidFill>
              </a:rPr>
              <a:t>SCOOT is far better than a fixed plan, about level with good actuation on general delay, and clearly better for buses and stops. The split optimiser is the mechanism that matters most here.</a:t>
            </a:r>
            <a:endParaRPr lang="en-US" sz="1100" dirty="0"/>
          </a:p>
        </p:txBody>
      </p:sp>
      <p:graphicFrame>
        <p:nvGraphicFramePr>
          <p:cNvPr id="6" name="Chart 0" descr=""/>
          <p:cNvGraphicFramePr/>
          <p:nvPr/>
        </p:nvGraphicFramePr>
        <p:xfrm>
          <a:off x="4709160" y="1444752"/>
          <a:ext cx="4023360" cy="321868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Full system</a:t>
            </a:r>
            <a:endParaRPr lang="en-US" sz="2400" dirty="0"/>
          </a:p>
        </p:txBody>
      </p:sp>
      <p:pic>
        <p:nvPicPr>
          <p:cNvPr id="3" name="Image 0" descr="Mind map of The full system on a SUMO region">    </p:cNvPr>
          <p:cNvPicPr>
            <a:picLocks noChangeAspect="1"/>
          </p:cNvPicPr>
          <p:nvPr/>
        </p:nvPicPr>
        <p:blipFill>
          <a:blip r:embed="rId1"/>
          <a:stretch>
            <a:fillRect/>
          </a:stretch>
        </p:blipFill>
        <p:spPr>
          <a:xfrm>
            <a:off x="411480" y="1107537"/>
            <a:ext cx="8321040" cy="1762565"/>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8: APPLAUSE METER</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final bow a giant applause meter shows the night's 'grumble' scores: a clockwork robot scores 87, a jumpy rabbit 29, the conductor 30. When the violinists are sent home the grumble leaps to 77; when the metronome is glued at 60, it drops to 27.</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conclude 'the cycle optimiser is useless'. On this demand the region's maximum (120 s) and slow decreases let the cycle stay too long after the peak. With a tuned maximum it would help; that is why engineers tune each region.</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The three optimisers side by side</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554480"/>
                <a:gridCol w="2255520"/>
                <a:gridCol w="2255520"/>
                <a:gridCol w="2255520"/>
              </a:tblGrid>
              <a:tr h="0">
                <a:tc>
                  <a:txBody>
                    <a:bodyPr/>
                    <a:lstStyle/>
                    <a:p>
                      <a:pPr indent="0" marL="0">
                        <a:buNone/>
                      </a:pP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Split</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Offset</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Cycle</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r>
              <a:tr h="0">
                <a:tc>
                  <a:txBody>
                    <a:bodyPr/>
                    <a:lstStyle/>
                    <a:p>
                      <a:pPr indent="0" marL="0">
                        <a:buNone/>
                      </a:pPr>
                      <a:r>
                        <a:rPr lang="en-US" sz="1250" b="1" dirty="0">
                          <a:solidFill>
                            <a:srgbClr val="000000"/>
                          </a:solidFill>
                        </a:rPr>
                        <a:t>Runs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before every stage change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once per cycle per node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every 5 min (2.5 rising)</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Changes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one stage change −4/0/+4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whole node −4/0/+4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region cycle ±4/8/16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Chooses by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lowest highest DoS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lowest PI on links in and out</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critical node DoS vs 90%</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Memory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temporary ±4, permanent ±1</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kept until next step</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kept until next review</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Without it (Lab A2)</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77.3 s delay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39.7 s delay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26.8 s (surprise)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Things beginners mix up</a:t>
            </a:r>
            <a:endParaRPr lang="en-US" sz="2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737360"/>
                <a:gridCol w="1737360"/>
                <a:gridCol w="4846320"/>
              </a:tblGrid>
              <a:tr h="0">
                <a:tc>
                  <a:txBody>
                    <a:bodyPr/>
                    <a:lstStyle/>
                    <a:p>
                      <a:pPr indent="0" marL="0">
                        <a:buNone/>
                      </a:pPr>
                      <a:r>
                        <a:rPr lang="en-US" sz="1300" b="1" dirty="0">
                          <a:solidFill>
                            <a:srgbClr val="FFFFFF"/>
                          </a:solidFill>
                        </a:rPr>
                        <a:t>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300" b="1" dirty="0">
                          <a:solidFill>
                            <a:srgbClr val="FFFFFF"/>
                          </a:solidFill>
                        </a:rPr>
                        <a:t>…is not 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300" b="1" dirty="0">
                          <a:solidFill>
                            <a:srgbClr val="FFFFFF"/>
                          </a:solidFill>
                        </a:rPr>
                        <a:t>The fact that tells them apart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r>
              <a:tr h="0">
                <a:tc>
                  <a:txBody>
                    <a:bodyPr/>
                    <a:lstStyle/>
                    <a:p>
                      <a:pPr indent="0" marL="0">
                        <a:buNone/>
                      </a:pPr>
                      <a:r>
                        <a:rPr lang="en-US" sz="1300" b="1" dirty="0">
                          <a:solidFill>
                            <a:srgbClr val="000000"/>
                          </a:solidFill>
                        </a:rPr>
                        <a:t>Split optimiser</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Offset optimiser</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Split moves one stage change and scores by DoS; offset moves the whole node and scores by PI.</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Temporary change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Permanent change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Temporary ±4 s applies to this cycle only; permanent ±1 s is stored in the plan.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Extension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Recall</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Extension holds the bus's green on; recall brings the bus's stage in early.</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ASTRID</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INGRID</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ASTRID stores history; INGRID compares now with history to spot incidents.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Double cycling</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A separate region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A double-cycled node runs exactly 2 cycles per region cycle, so it stays coordinated.</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Congestion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Exit blocking</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Congestion: queue over this link's detector. Exit blocking: no room on the road beyond.</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(1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4F0"/>
          </a:solidFill>
          <a:ln w="12700">
            <a:solidFill>
              <a:srgbClr val="EEF4F0"/>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Greens A 30 s, B 20 s; demand A 20 LPU, B 18 LPU; SATO 1.0. Which split option wins?</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−4 s</a:t>
            </a:r>
            <a:endParaRPr lang="en-US" sz="1400" dirty="0"/>
          </a:p>
          <a:p>
            <a:pPr indent="0" marL="0">
              <a:spcAft>
                <a:spcPts val="900"/>
              </a:spcAft>
              <a:buNone/>
            </a:pPr>
            <a:r>
              <a:rPr lang="en-US" sz="1400" dirty="0">
                <a:solidFill>
                  <a:srgbClr val="000000"/>
                </a:solidFill>
              </a:rPr>
              <a:t>B.  0</a:t>
            </a:r>
            <a:endParaRPr lang="en-US" sz="1400" dirty="0"/>
          </a:p>
          <a:p>
            <a:pPr indent="0" marL="0">
              <a:spcAft>
                <a:spcPts val="900"/>
              </a:spcAft>
              <a:buNone/>
            </a:pPr>
            <a:r>
              <a:rPr lang="en-US" sz="1400" dirty="0">
                <a:solidFill>
                  <a:srgbClr val="000000"/>
                </a:solidFill>
              </a:rPr>
              <a:t>C.  +4 s</a:t>
            </a:r>
            <a:endParaRPr lang="en-US" sz="1400" dirty="0"/>
          </a:p>
          <a:p>
            <a:pPr indent="0" marL="0">
              <a:spcAft>
                <a:spcPts val="900"/>
              </a:spcAft>
              <a:buNone/>
            </a:pPr>
            <a:r>
              <a:rPr lang="en-US" sz="1400" dirty="0">
                <a:solidFill>
                  <a:srgbClr val="000000"/>
                </a:solidFill>
              </a:rPr>
              <a:t>D.  No option is allowed</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4F0"/>
          </a:solidFill>
          <a:ln w="12700">
            <a:solidFill>
              <a:srgbClr val="EEF4F0"/>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Cycle 60 s, L = 12 s, Y = 0.75. What does the cycle optimiser do?</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Shorten by 4 s</a:t>
            </a:r>
            <a:endParaRPr lang="en-US" sz="1400" dirty="0"/>
          </a:p>
          <a:p>
            <a:pPr indent="0" marL="0">
              <a:spcAft>
                <a:spcPts val="900"/>
              </a:spcAft>
              <a:buNone/>
            </a:pPr>
            <a:r>
              <a:rPr lang="en-US" sz="1400" dirty="0">
                <a:solidFill>
                  <a:srgbClr val="000000"/>
                </a:solidFill>
              </a:rPr>
              <a:t>B.  Hold</a:t>
            </a:r>
            <a:endParaRPr lang="en-US" sz="1400" dirty="0"/>
          </a:p>
          <a:p>
            <a:pPr indent="0" marL="0">
              <a:spcAft>
                <a:spcPts val="900"/>
              </a:spcAft>
              <a:buNone/>
            </a:pPr>
            <a:r>
              <a:rPr lang="en-US" sz="1400" dirty="0">
                <a:solidFill>
                  <a:srgbClr val="000000"/>
                </a:solidFill>
              </a:rPr>
              <a:t>C.  Lengthen by 4 s</a:t>
            </a:r>
            <a:endParaRPr lang="en-US" sz="1400" dirty="0"/>
          </a:p>
          <a:p>
            <a:pPr indent="0" marL="0">
              <a:spcAft>
                <a:spcPts val="900"/>
              </a:spcAft>
              <a:buNone/>
            </a:pPr>
            <a:r>
              <a:rPr lang="en-US" sz="1400" dirty="0">
                <a:solidFill>
                  <a:srgbClr val="000000"/>
                </a:solidFill>
              </a:rPr>
              <a:t>D.  Lengthen by 8 s</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(2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4F0"/>
          </a:solidFill>
          <a:ln w="12700">
            <a:solidFill>
              <a:srgbClr val="EEF4F0"/>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In Lab A2, which removed mechanism raised delay most?</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Offset optimiser</a:t>
            </a:r>
            <a:endParaRPr lang="en-US" sz="1400" dirty="0"/>
          </a:p>
          <a:p>
            <a:pPr indent="0" marL="0">
              <a:spcAft>
                <a:spcPts val="900"/>
              </a:spcAft>
              <a:buNone/>
            </a:pPr>
            <a:r>
              <a:rPr lang="en-US" sz="1400" dirty="0">
                <a:solidFill>
                  <a:srgbClr val="000000"/>
                </a:solidFill>
              </a:rPr>
              <a:t>B.  Cycle optimiser</a:t>
            </a:r>
            <a:endParaRPr lang="en-US" sz="1400" dirty="0"/>
          </a:p>
          <a:p>
            <a:pPr indent="0" marL="0">
              <a:spcAft>
                <a:spcPts val="900"/>
              </a:spcAft>
              <a:buNone/>
            </a:pPr>
            <a:r>
              <a:rPr lang="en-US" sz="1400" dirty="0">
                <a:solidFill>
                  <a:srgbClr val="000000"/>
                </a:solidFill>
              </a:rPr>
              <a:t>C.  Split optimiser</a:t>
            </a:r>
            <a:endParaRPr lang="en-US" sz="1400" dirty="0"/>
          </a:p>
          <a:p>
            <a:pPr indent="0" marL="0">
              <a:spcAft>
                <a:spcPts val="900"/>
              </a:spcAft>
              <a:buNone/>
            </a:pPr>
            <a:r>
              <a:rPr lang="en-US" sz="1400" dirty="0">
                <a:solidFill>
                  <a:srgbClr val="000000"/>
                </a:solidFill>
              </a:rPr>
              <a:t>D.  Bus priority</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4F0"/>
          </a:solidFill>
          <a:ln w="12700">
            <a:solidFill>
              <a:srgbClr val="EEF4F0"/>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Flow is 25% of the historic profile and occupancy is 4 times normal. INGRID would most likely:</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Ignore it: low flow is normal at night</a:t>
            </a:r>
            <a:endParaRPr lang="en-US" sz="1400" dirty="0"/>
          </a:p>
          <a:p>
            <a:pPr indent="0" marL="0">
              <a:spcAft>
                <a:spcPts val="900"/>
              </a:spcAft>
              <a:buNone/>
            </a:pPr>
            <a:r>
              <a:rPr lang="en-US" sz="1400" dirty="0">
                <a:solidFill>
                  <a:srgbClr val="000000"/>
                </a:solidFill>
              </a:rPr>
              <a:t>B.  Flag a possible incident: traffic is standing</a:t>
            </a:r>
            <a:endParaRPr lang="en-US" sz="1400" dirty="0"/>
          </a:p>
          <a:p>
            <a:pPr indent="0" marL="0">
              <a:spcAft>
                <a:spcPts val="900"/>
              </a:spcAft>
              <a:buNone/>
            </a:pPr>
            <a:r>
              <a:rPr lang="en-US" sz="1400" dirty="0">
                <a:solidFill>
                  <a:srgbClr val="000000"/>
                </a:solidFill>
              </a:rPr>
              <a:t>C.  Lengthen the cycle</a:t>
            </a:r>
            <a:endParaRPr lang="en-US" sz="1400" dirty="0"/>
          </a:p>
          <a:p>
            <a:pPr indent="0" marL="0">
              <a:spcAft>
                <a:spcPts val="900"/>
              </a:spcAft>
              <a:buNone/>
            </a:pPr>
            <a:r>
              <a:rPr lang="en-US" sz="1400" dirty="0">
                <a:solidFill>
                  <a:srgbClr val="000000"/>
                </a:solidFill>
              </a:rPr>
              <a:t>D.  Switch the detector off</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Walk the memory route</a:t>
            </a:r>
            <a:endParaRPr lang="en-US" sz="2400" dirty="0"/>
          </a:p>
        </p:txBody>
      </p:sp>
      <p:pic>
        <p:nvPicPr>
          <p:cNvPr id="3" name="Image 0" descr="Memory route with one stop per concept">    </p:cNvPr>
          <p:cNvPicPr>
            <a:picLocks noChangeAspect="1"/>
          </p:cNvPicPr>
          <p:nvPr/>
        </p:nvPicPr>
        <p:blipFill>
          <a:blip r:embed="rId1"/>
          <a:stretch>
            <a:fillRect/>
          </a:stretch>
        </p:blipFill>
        <p:spPr>
          <a:xfrm>
            <a:off x="834044" y="914400"/>
            <a:ext cx="7475913" cy="3246120"/>
          </a:xfrm>
          <a:prstGeom prst="rect">
            <a:avLst/>
          </a:prstGeom>
        </p:spPr>
      </p:pic>
      <p:sp>
        <p:nvSpPr>
          <p:cNvPr id="4" name="Text 1"/>
          <p:cNvSpPr txBox="1"/>
          <p:nvPr/>
        </p:nvSpPr>
        <p:spPr>
          <a:xfrm>
            <a:off x="411480" y="4206240"/>
            <a:ext cx="8321040" cy="502920"/>
          </a:xfrm>
          <a:prstGeom prst="rect">
            <a:avLst/>
          </a:prstGeom>
          <a:noFill/>
          <a:ln/>
        </p:spPr>
        <p:txBody>
          <a:bodyPr wrap="square" rtlCol="0" anchor="ctr"/>
          <a:lstStyle/>
          <a:p>
            <a:pPr algn="ctr" indent="0" marL="0">
              <a:buNone/>
            </a:pPr>
            <a:r>
              <a:rPr lang="en-US" sz="1100" dirty="0">
                <a:solidFill>
                  <a:schemeClr val="tx1"/>
                </a:solidFill>
              </a:rPr>
              <a:t>1 Stage door = Regions   ·   2 Seesaw = Split optimiser   ·   3 Echo corridor = Offset optimiser   ·   4 Metronome = Cycle optimiser   ·   5 Cloakroom = Congestion &amp; gating   ·   6 Bus in the pit = Bus priority   ·   7 Archive room = Wider system   ·   8 Applause meter = Full system</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Numbers to remember</a:t>
            </a:r>
            <a:endParaRPr lang="en-US" sz="2400" dirty="0"/>
          </a:p>
        </p:txBody>
      </p:sp>
      <p:sp>
        <p:nvSpPr>
          <p:cNvPr id="3" name="Text 1"/>
          <p:cNvSpPr txBox="1"/>
          <p:nvPr/>
        </p:nvSpPr>
        <p:spPr>
          <a:xfrm>
            <a:off x="41148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Split: −4/0/+4 s temporary, ±1 s permanent; 88% 'keep' in the lab</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Offset: once per cycle, ±4 s, PI = delay + 4 × stops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Cycle: every 5 min (2.5 rising), &gt; 0.90 up, </a:t>
            </a:r>
            <a:pPr indent="0" marL="0">
              <a:buNone/>
            </a:pPr>
            <a:r>
              <a:rPr lang="en-US" sz="1500" dirty="0">
                <a:solidFill>
                  <a:schemeClr val="tx1"/>
                </a:solidFill>
              </a:rPr>
              <a:t>&lt;</a:t>
            </a:r>
            <a:pPr indent="0" marL="0">
              <a:buNone/>
            </a:pPr>
            <a:r>
              <a:rPr lang="en-US" sz="1500" dirty="0">
                <a:solidFill>
                  <a:schemeClr val="tx1"/>
                </a:solidFill>
              </a:rPr>
              <a:t> 0.80 down, steps 4/8/16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Double cycling: 96 s → 48 s cuts ped wait 40.3 → 16.7 s</a:t>
            </a:r>
            <a:endParaRPr lang="en-US" sz="1500" dirty="0"/>
          </a:p>
        </p:txBody>
      </p:sp>
      <p:sp>
        <p:nvSpPr>
          <p:cNvPr id="4" name="Text 2"/>
          <p:cNvSpPr txBox="1"/>
          <p:nvPr/>
        </p:nvSpPr>
        <p:spPr>
          <a:xfrm>
            <a:off x="461772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Bus: max extension 12 s; bus delay 34.7 → 22.9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Lab A1 delay: fixed 86.95, actuated 29.07, SCOOT 30.44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Lab A2: no split 77.3, no offset 39.7, no cycle 26.8 s</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nchor="ctr"/>
          <a:lstStyle/>
          <a:p>
            <a:pPr indent="0" marL="0">
              <a:buNone/>
            </a:pPr>
            <a:r>
              <a:rPr lang="en-US" sz="3400" b="1" dirty="0">
                <a:solidFill>
                  <a:schemeClr val="bg1"/>
                </a:solidFill>
              </a:rPr>
              <a:t>Keep going</a:t>
            </a: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nchor="t"/>
          <a:lstStyle/>
          <a:p>
            <a:pPr indent="0" marL="0">
              <a:buNone/>
            </a:pPr>
            <a:r>
              <a:rPr lang="en-US" sz="1600" dirty="0">
                <a:solidFill>
                  <a:schemeClr val="bg1"/>
                </a:solidFill>
              </a:rPr>
              <a:t>Study guide: SCOOT_Advanced_Study_Guide.pdf · Interactive labs and SUMO code: smrahmanbd.github.io/scoot-learning-lab</a:t>
            </a:r>
            <a:endParaRPr lang="en-US" sz="1600" dirty="0"/>
          </a:p>
        </p:txBody>
      </p:sp>
    </p:spTree>
  </p:cSld>
  <p:clrMapOvr>
    <a:masterClrMapping/>
  </p:clrMapOvr>
</p:sld>
</file>

<file path=ppt/theme/theme1.xml><?xml version="1.0" encoding="utf-8"?>
<a:theme xmlns:a="http://schemas.openxmlformats.org/drawingml/2006/main" name="SCOOT Learning Lab">
  <a:themeElements>
    <a:clrScheme name="SCOOT Learning Lab">
      <a:dk1>
        <a:srgbClr val="1A1A1A"/>
      </a:dk1>
      <a:lt1>
        <a:srgbClr val="FFFFFF"/>
      </a:lt1>
      <a:dk2>
        <a:srgbClr val="0D5A3A"/>
      </a:dk2>
      <a:lt2>
        <a:srgbClr val="EEF4F0"/>
      </a:lt2>
      <a:accent1>
        <a:srgbClr val="0D5A3A"/>
      </a:accent1>
      <a:accent2>
        <a:srgbClr val="D08A2C"/>
      </a:accent2>
      <a:accent3>
        <a:srgbClr val="8F3520"/>
      </a:accent3>
      <a:accent4>
        <a:srgbClr val="0B3954"/>
      </a:accent4>
      <a:accent5>
        <a:srgbClr val="3F3266"/>
      </a:accent5>
      <a:accent6>
        <a:srgbClr val="4FD18B"/>
      </a:accent6>
      <a:hlink>
        <a:srgbClr val="0B5CAD"/>
      </a:hlink>
      <a:folHlink>
        <a:srgbClr val="5A2F38"/>
      </a:folHlink>
    </a:clrScheme>
    <a:fontScheme name="SCOOT Learning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SCOOT Advanced</dc:title>
  <dc:subject>PptxGenJS Presentation</dc:subject>
  <dc:creator>SCOOT/SCATS Learning Lab</dc:creator>
  <cp:lastModifiedBy>SCOOT/SCATS Learning Lab</cp:lastModifiedBy>
  <cp:revision>1</cp:revision>
  <dcterms:created xsi:type="dcterms:W3CDTF">2026-10-25T17:12:45Z</dcterms:created>
  <dcterms:modified xsi:type="dcterms:W3CDTF">2026-10-25T17:12:45Z</dcterms:modified>
</cp:coreProperties>
</file>